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 (Title)</a:t>
            </a:r>
          </a:p>
          <a:p/>
          <a:p>
            <a:r>
              <a:t>Good [morning/afternoon] everyone. Today I'm going to walk you through my research on a protein called CFTR, </a:t>
            </a:r>
          </a:p>
          <a:p>
            <a:r>
              <a:t>which is broken in people with cystic fibrosis — a serious lung disease. </a:t>
            </a:r>
          </a:p>
          <a:p/>
          <a:p>
            <a:r>
              <a:t>The exciting part is that there are now drugs that can partially fix this protein, but we don't fully </a:t>
            </a:r>
          </a:p>
          <a:p>
            <a:r>
              <a:t>understand exactly HOW they fix it — we don't know what shape the protein is being pushed into. </a:t>
            </a:r>
          </a:p>
          <a:p/>
          <a:p>
            <a:r>
              <a:t>I've been using cryo-electron microscopy — a technique that photographs individual proteins frozen in ice — </a:t>
            </a:r>
          </a:p>
          <a:p>
            <a:r>
              <a:t>combined with machine learning algorithms, to figure out what shapes this protein adopts when treated with </a:t>
            </a:r>
          </a:p>
          <a:p>
            <a:r>
              <a:t>these drugs. This work combines traditional image analysis with a neural network approach, and I'll show </a:t>
            </a:r>
          </a:p>
          <a:p>
            <a:r>
              <a:t>you both methods and how they complement each other.</a:t>
            </a:r>
          </a:p>
          <a:p/>
          <a:p>
            <a:r>
              <a:t>The talk will be about 12 minutes. I'll start with the biology (no experience needed), then walk through </a:t>
            </a:r>
          </a:p>
          <a:p>
            <a:r>
              <a:t>the methods, and finish with what we found.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2 (What is CFTR?)</a:t>
            </a:r>
          </a:p>
          <a:p/>
          <a:p>
            <a:r>
              <a:t>Let me give you a quick biology refresher. </a:t>
            </a:r>
          </a:p>
          <a:p/>
          <a:p>
            <a:r>
              <a:t>Think of CFTR as a tiny door — or channel — in the wall of your lung cells. Its job is to let </a:t>
            </a:r>
          </a:p>
          <a:p>
            <a:r>
              <a:t>chloride ions (a type of salt) pass through the cell membrane to the outside. When chloride moves </a:t>
            </a:r>
          </a:p>
          <a:p>
            <a:r>
              <a:t>out, water follows it, and that water is what keeps the mucus on your lung surfaces thin enough </a:t>
            </a:r>
          </a:p>
          <a:p>
            <a:r>
              <a:t>to flow and be cleared by cilia.</a:t>
            </a:r>
          </a:p>
          <a:p/>
          <a:p>
            <a:r>
              <a:t>In cystic fibrosis, this door is either broken (it won't open) or it's never built correctly </a:t>
            </a:r>
          </a:p>
          <a:p>
            <a:r>
              <a:t>(it gets stuck inside the cell and never reaches the surface). The result is thick, sticky mucus </a:t>
            </a:r>
          </a:p>
          <a:p>
            <a:r>
              <a:t>that builds up and causes repeated lung infections.</a:t>
            </a:r>
          </a:p>
          <a:p/>
          <a:p>
            <a:r>
              <a:t>The new drugs — sold under the brand name Trikafta — include two types:</a:t>
            </a:r>
          </a:p>
          <a:p>
            <a:r>
              <a:t>- CORRECTORS: these act like chaperones that help the misfolded protein fold into the right shape </a:t>
            </a:r>
          </a:p>
          <a:p>
            <a:r>
              <a:t>  so it can actually reach the cell surface</a:t>
            </a:r>
          </a:p>
          <a:p>
            <a:r>
              <a:t>- POTENTIATORS: these act like a wedge that keeps the channel door open once it gets there</a:t>
            </a:r>
          </a:p>
          <a:p/>
          <a:p>
            <a:r>
              <a:t>These drugs have been transformative — they've changed CF from a disease that killed most patients </a:t>
            </a:r>
          </a:p>
          <a:p>
            <a:r>
              <a:t>in childhood to one where people can live to 50 and beyond. </a:t>
            </a:r>
          </a:p>
          <a:p/>
          <a:p>
            <a:r>
              <a:t>BUT — we don't fully understand at the atomic level what shape the protein is being held in by these </a:t>
            </a:r>
          </a:p>
          <a:p>
            <a:r>
              <a:t>drugs. That's what my research is trying to answer, using electron microscopy.</a:t>
            </a:r>
          </a:p>
          <a:p/>
          <a:p>
            <a:r>
              <a:t>[Point to the placeholder box] In the actual presentation you'd want to insert a figure showing CFTR </a:t>
            </a:r>
          </a:p>
          <a:p>
            <a:r>
              <a:t>as a cartoon in a cell membrane with chloride ions flowing through.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3 (CFTR Structure &amp; Drug Targets)</a:t>
            </a:r>
          </a:p>
          <a:p/>
          <a:p>
            <a:r>
              <a:t>Now let's look at CFTR's structure more carefully. The protein is made of several distinct sections </a:t>
            </a:r>
          </a:p>
          <a:p>
            <a:r>
              <a:t>or domains — think of it like a building with different rooms that each have a specific function.</a:t>
            </a:r>
          </a:p>
          <a:p/>
          <a:p>
            <a:r>
              <a:t>The NBDs (Nucleotide Binding Domains) are the engines — they bind to ATP molecules (your cell's </a:t>
            </a:r>
          </a:p>
          <a:p>
            <a:r>
              <a:t>energy currency) and use that energy to physically open and close the pore. NBD1 is where the </a:t>
            </a:r>
          </a:p>
          <a:p>
            <a:r>
              <a:t>most common mutation occurs: ΔF508, which means amino acid number 508 (phenylalanine) is deleted. </a:t>
            </a:r>
          </a:p>
          <a:p>
            <a:r>
              <a:t>This one missing amino acid causes the whole protein to fold incorrectly and get destroyed before </a:t>
            </a:r>
          </a:p>
          <a:p>
            <a:r>
              <a:t>it even reaches the cell surface.</a:t>
            </a:r>
          </a:p>
          <a:p/>
          <a:p>
            <a:r>
              <a:t>The TMDs (Transmembrane Domains) form the actual pore — the channel through which chloride flows.</a:t>
            </a:r>
          </a:p>
          <a:p/>
          <a:p>
            <a:r>
              <a:t>The corrector drugs bind at the junction between these domains and stabilize the folded structure. </a:t>
            </a:r>
          </a:p>
          <a:p>
            <a:r>
              <a:t>The potentiator drug fits inside the pore and keeps it wedged open.</a:t>
            </a:r>
          </a:p>
          <a:p/>
          <a:p>
            <a:r>
              <a:t>When we image CFTR with electron microscopy — and I'll explain that in a moment — we can actually </a:t>
            </a:r>
          </a:p>
          <a:p>
            <a:r>
              <a:t>see the protein in different shapes. The class names you'll see throughout this talk (P6, P7, P8, etc.) </a:t>
            </a:r>
          </a:p>
          <a:p>
            <a:r>
              <a:t>are shorthand for these different conformational states, and they describe what domain is missing or </a:t>
            </a:r>
          </a:p>
          <a:p>
            <a:r>
              <a:t>altered compared to a reference structure. For example:</a:t>
            </a:r>
          </a:p>
          <a:p>
            <a:r>
              <a:t>- "NBD1LessMix-Ablated" means this class shows reduced NBD1 density, mixing with an ablated variant</a:t>
            </a:r>
          </a:p>
          <a:p>
            <a:r>
              <a:t>- "VshapedMix" means the protein adopts a characteristic V-shape</a:t>
            </a:r>
          </a:p>
          <a:p/>
          <a:p>
            <a:r>
              <a:t>These names tell us WHERE the structural differences are — which is exactly the biology we care about.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4 (CryoEM Methodology)</a:t>
            </a:r>
          </a:p>
          <a:p/>
          <a:p>
            <a:r>
              <a:t>Now let me explain HOW we actually image these proteins. Cryo-EM stands for cryo-electron </a:t>
            </a:r>
          </a:p>
          <a:p>
            <a:r>
              <a:t>microscopy, and the process goes like this:</a:t>
            </a:r>
          </a:p>
          <a:p/>
          <a:p>
            <a:r>
              <a:t>First, we purify the CFTR protein in the lab and mix it with the Trikafta drugs. Because CFTR </a:t>
            </a:r>
          </a:p>
          <a:p>
            <a:r>
              <a:t>normally lives in cell membranes, we also mix it with special lipid particles called nanodiscs </a:t>
            </a:r>
          </a:p>
          <a:p>
            <a:r>
              <a:t>that mimic the membrane environment and keep the protein stable.</a:t>
            </a:r>
          </a:p>
          <a:p/>
          <a:p>
            <a:r>
              <a:t>Then we take a tiny droplet of this protein solution and plunge it extremely rapidly into liquid </a:t>
            </a:r>
          </a:p>
          <a:p>
            <a:r>
              <a:t>ethane at -170 degrees Celsius. This freezes the solution so fast that water doesn't form ice </a:t>
            </a:r>
          </a:p>
          <a:p>
            <a:r>
              <a:t>crystals — instead it forms a glass-like amorphous solid called vitreous ice. The protein is now </a:t>
            </a:r>
          </a:p>
          <a:p>
            <a:r>
              <a:t>frozen mid-motion, in whatever shape it happened to be in at that exact moment.</a:t>
            </a:r>
          </a:p>
          <a:p/>
          <a:p>
            <a:r>
              <a:t>We then load this frozen sample into an electron microscope — imagine it as a camera that uses </a:t>
            </a:r>
          </a:p>
          <a:p>
            <a:r>
              <a:t>electrons instead of light, which gives much finer detail. We collect tens of thousands of images, </a:t>
            </a:r>
          </a:p>
          <a:p>
            <a:r>
              <a:t>each showing individual protein particles embedded in the ice.</a:t>
            </a:r>
          </a:p>
          <a:p/>
          <a:p>
            <a:r>
              <a:t>The key challenge here is that: </a:t>
            </a:r>
          </a:p>
          <a:p>
            <a:r>
              <a:t>1) Each image is incredibly noisy — the signal from one tiny protein barely stands out from background</a:t>
            </a:r>
          </a:p>
          <a:p>
            <a:r>
              <a:t>2) Each protein is oriented randomly — we're getting random 2D projections of a 3D object</a:t>
            </a:r>
          </a:p>
          <a:p/>
          <a:p>
            <a:r>
              <a:t>The computational step (step 5) is where you reconstruct the 3D structure — it's like using </a:t>
            </a:r>
          </a:p>
          <a:p>
            <a:r>
              <a:t>thousands of shadow projections from different angles to reconstruct the 3D object that cast them.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5 (The Classification Problem)</a:t>
            </a:r>
          </a:p>
          <a:p/>
          <a:p>
            <a:r>
              <a:t>Here's the core challenge of this whole project. When we collect cryo-EM images, we're imaging </a:t>
            </a:r>
          </a:p>
          <a:p>
            <a:r>
              <a:t>a mixture of proteins, and each protein particle might be in a slightly different shape. </a:t>
            </a:r>
          </a:p>
          <a:p/>
          <a:p>
            <a:r>
              <a:t>If we just average all 100,000 images together, we'd get a blurry mess — like taking a </a:t>
            </a:r>
          </a:p>
          <a:p>
            <a:r>
              <a:t>long-exposure photograph of a busy intersection. Each car is in a different position, so you'd </a:t>
            </a:r>
          </a:p>
          <a:p>
            <a:r>
              <a:t>just see streaks, not individual cars.</a:t>
            </a:r>
          </a:p>
          <a:p/>
          <a:p>
            <a:r>
              <a:t>Instead, we want to SORT the particles into groups — each group containing particles that look </a:t>
            </a:r>
          </a:p>
          <a:p>
            <a:r>
              <a:t>similar to each other, meaning they're likely in the same conformation. Then we reconstruct a </a:t>
            </a:r>
          </a:p>
          <a:p>
            <a:r>
              <a:t>separate 3D map for each group.</a:t>
            </a:r>
          </a:p>
          <a:p/>
          <a:p>
            <a:r>
              <a:t>For CFTR treated with Trikafta drugs, the software found between 3 and 9 distinct groups </a:t>
            </a:r>
          </a:p>
          <a:p>
            <a:r>
              <a:t>depending on how we set up the experiment:</a:t>
            </a:r>
          </a:p>
          <a:p>
            <a:r>
              <a:t>- J1442: 3 groups with 230,000 particles</a:t>
            </a:r>
          </a:p>
          <a:p>
            <a:r>
              <a:t>- J1497: same particles but sorted into 5 groups  </a:t>
            </a:r>
          </a:p>
          <a:p>
            <a:r>
              <a:t>- J264: a different, larger experiment with 9 groups and 300,000 particles</a:t>
            </a:r>
          </a:p>
          <a:p/>
          <a:p>
            <a:r>
              <a:t>The big scientific question is: are these really distinct conformations, or is the software </a:t>
            </a:r>
          </a:p>
          <a:p>
            <a:r>
              <a:t>just hallucinating groups? This is where my two-method approach becomes important — if two </a:t>
            </a:r>
          </a:p>
          <a:p>
            <a:r>
              <a:t>completely different methods, starting from different assumptions, both find the same 3 groups, </a:t>
            </a:r>
          </a:p>
          <a:p>
            <a:r>
              <a:t>that's strong evidence those groups are real.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6 (CryoSPARC Bias)</a:t>
            </a:r>
          </a:p>
          <a:p/>
          <a:p>
            <a:r>
              <a:t>Let me explain how CryoSPARC's heterogeneous refinement works and why we have to be careful about it.</a:t>
            </a:r>
          </a:p>
          <a:p/>
          <a:p>
            <a:r>
              <a:t>The algorithm works in cycles. It starts with reference 3D maps — initial guesses at what each </a:t>
            </a:r>
          </a:p>
          <a:p>
            <a:r>
              <a:t>conformation looks like. Then it does two steps over and over:</a:t>
            </a:r>
          </a:p>
          <a:p>
            <a:r>
              <a:t>- E-step (Expectation): for each particle image, calculate "which reference map does this look </a:t>
            </a:r>
          </a:p>
          <a:p>
            <a:r>
              <a:t>  most like?" and assign a probability to each class</a:t>
            </a:r>
          </a:p>
          <a:p>
            <a:r>
              <a:t>- M-step (Maximization): rebuild each class's 3D map using the particles assigned to it</a:t>
            </a:r>
          </a:p>
          <a:p/>
          <a:p>
            <a:r>
              <a:t>This is very powerful, but there's a fundamental problem called "Einstein from noise." In 2009, </a:t>
            </a:r>
          </a:p>
          <a:p>
            <a:r>
              <a:t>researchers showed that if you show CryoSPARC a reference image of Einstein's face and give it </a:t>
            </a:r>
          </a:p>
          <a:p>
            <a:r>
              <a:t>pure random noise images, it will find Einstein's face in the noise. This is because the </a:t>
            </a:r>
          </a:p>
          <a:p>
            <a:r>
              <a:t>correlation step can always find SOMETHING that matches a reference — the algorithm will </a:t>
            </a:r>
          </a:p>
          <a:p>
            <a:r>
              <a:t>converge to whatever it was primed to look for.</a:t>
            </a:r>
          </a:p>
          <a:p/>
          <a:p>
            <a:r>
              <a:t>This leads to what I call "near one-hot posteriors" — after many iterations, the algorithm becomes </a:t>
            </a:r>
          </a:p>
          <a:p>
            <a:r>
              <a:t>almost 100% confident about every particle's class assignment. For J1442, after biased refinement, </a:t>
            </a:r>
          </a:p>
          <a:p>
            <a:r>
              <a:t>the average confidence is 99.2% — essentially saying "I'm sure this particle is exactly class 6." </a:t>
            </a:r>
          </a:p>
          <a:p/>
          <a:p>
            <a:r>
              <a:t>But when we use a debiased approach — running just ONE E-step from an unbiased starting point — </a:t>
            </a:r>
          </a:p>
          <a:p>
            <a:r>
              <a:t>the average confidence drops to 36.2%, which is almost exactly 1/3 for three classes. This means </a:t>
            </a:r>
          </a:p>
          <a:p>
            <a:r>
              <a:t>most particles are genuinely ambiguous and the algorithm was manufacturing false confidence.</a:t>
            </a:r>
          </a:p>
          <a:p/>
          <a:p>
            <a:r>
              <a:t>My GMM pipeline was designed to characterize and quantify this uncertainty honestly.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7 (GMM Pipeline)</a:t>
            </a:r>
          </a:p>
          <a:p/>
          <a:p>
            <a:r>
              <a:t>OK so now I've told you the problem — CryoSPARC gives us overconfident assignments. What did I build </a:t>
            </a:r>
          </a:p>
          <a:p>
            <a:r>
              <a:t>to quantify the uncertainty more honestly?</a:t>
            </a:r>
          </a:p>
          <a:p/>
          <a:p>
            <a:r>
              <a:t>Each particle in the CryoSPARC output gets assigned a probability vector. For 3 classes, it's </a:t>
            </a:r>
          </a:p>
          <a:p>
            <a:r>
              <a:t>(P6, P7, P8) which sums to 1.0. This is like saying "this particle is 40% likely to be class 6, </a:t>
            </a:r>
          </a:p>
          <a:p>
            <a:r>
              <a:t>35% class 7, 25% class 8."</a:t>
            </a:r>
          </a:p>
          <a:p/>
          <a:p>
            <a:r>
              <a:t>These probability vectors lie on what mathematicians call a simplex — a triangular surface in </a:t>
            </a:r>
          </a:p>
          <a:p>
            <a:r>
              <a:t>3D space. You can't just put a regular Gaussian distribution on a simplex, because the probabilities </a:t>
            </a:r>
          </a:p>
          <a:p>
            <a:r>
              <a:t>have to add up to 1. </a:t>
            </a:r>
          </a:p>
          <a:p/>
          <a:p>
            <a:r>
              <a:t>To fix this, I use the Additive Log-Ratio transform, which converts the simplex into regular </a:t>
            </a:r>
          </a:p>
          <a:p>
            <a:r>
              <a:t>unconstrained coordinates. The formula on the slide says: take the log of each probability divided </a:t>
            </a:r>
          </a:p>
          <a:p>
            <a:r>
              <a:t>by the last one. This maps the triangle onto infinite 2D space.</a:t>
            </a:r>
          </a:p>
          <a:p/>
          <a:p>
            <a:r>
              <a:t>Then I fit a Gaussian Mixture Model — basically multiple overlapping "bells" in this transformed </a:t>
            </a:r>
          </a:p>
          <a:p>
            <a:r>
              <a:t>space. The formula shows the standard GMM: it's a weighted sum of Gaussian bell curves, where </a:t>
            </a:r>
          </a:p>
          <a:p>
            <a:r>
              <a:t>πₖ is the weight (how big that bell is), μₖ is the center (where that class lives in this space), </a:t>
            </a:r>
          </a:p>
          <a:p>
            <a:r>
              <a:t>and Σₖ is the shape of the bell (how spread out it is).</a:t>
            </a:r>
          </a:p>
          <a:p/>
          <a:p>
            <a:r>
              <a:t>The outputs are really useful:</a:t>
            </a:r>
          </a:p>
          <a:p>
            <a:r>
              <a:t>- We get soft memberships (rₙₖ) — how much each particle belongs to each class</a:t>
            </a:r>
          </a:p>
          <a:p>
            <a:r>
              <a:t>- We can measure class overlap — which classes are most similar  </a:t>
            </a:r>
          </a:p>
          <a:p>
            <a:r>
              <a:t>- We can estimate the true population fractions with error bars</a:t>
            </a:r>
          </a:p>
          <a:p>
            <a:r>
              <a:t>- We can export just the high-confidence particles for better reconstructions</a:t>
            </a:r>
          </a:p>
          <a:p/>
          <a:p>
            <a:r>
              <a:t>The key result: when I plot these probability vectors, all three classes heavily overlap near </a:t>
            </a:r>
          </a:p>
          <a:p>
            <a:r>
              <a:t>the center (0.33, 0.33, 0.33) — meaning most particles genuinely don't belong to any one class, </a:t>
            </a:r>
          </a:p>
          <a:p>
            <a:r>
              <a:t>they're sort of in between. This shows the three "classes" are actually positions along a </a:t>
            </a:r>
          </a:p>
          <a:p>
            <a:r>
              <a:t>continuous conformational spectrum.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8 (Posterior Scatter)</a:t>
            </a:r>
          </a:p>
          <a:p/>
          <a:p>
            <a:r>
              <a:t>This is one of the most important figures in my analysis. Let me walk you through it carefully.</a:t>
            </a:r>
          </a:p>
          <a:p/>
          <a:p>
            <a:r>
              <a:t>Each of these three panels shows a different pairing of the three classes — P6 vs P7, P6 vs P8, </a:t>
            </a:r>
          </a:p>
          <a:p>
            <a:r>
              <a:t>and P7 vs P8. Each dot represents one protein particle — but remember, we have 230,000 particles, </a:t>
            </a:r>
          </a:p>
          <a:p>
            <a:r>
              <a:t>so I'm only showing a random sample of 50,000.</a:t>
            </a:r>
          </a:p>
          <a:p/>
          <a:p>
            <a:r>
              <a:t>The position of each dot tells you what CryoSPARC thought about that particle:</a:t>
            </a:r>
          </a:p>
          <a:p>
            <a:r>
              <a:t>- If a particle is assigned to Class P6 with 90% confidence, it would appear at the FAR RIGHT </a:t>
            </a:r>
          </a:p>
          <a:p>
            <a:r>
              <a:t>  of the x-axis in the "P6 vs P7" panel</a:t>
            </a:r>
          </a:p>
          <a:p>
            <a:r>
              <a:t>- If it's totally uncertain, it would appear near the middle of the plot, around (0.33, 0.33)</a:t>
            </a:r>
          </a:p>
          <a:p/>
          <a:p>
            <a:r>
              <a:t>Now look at what actually happened: ALL THREE CLOUDS are piled up near the CENTER. This means </a:t>
            </a:r>
          </a:p>
          <a:p>
            <a:r>
              <a:t>most particles have probabilities close to 0.33 for each of the three classes — essentially </a:t>
            </a:r>
          </a:p>
          <a:p>
            <a:r>
              <a:t>uniform. The algorithm is saying "I don't really know which class this is."</a:t>
            </a:r>
          </a:p>
          <a:p/>
          <a:p>
            <a:r>
              <a:t>The white dots are the class means — where the average particle in each class sits. And you can </a:t>
            </a:r>
          </a:p>
          <a:p>
            <a:r>
              <a:t>see they're actually pretty close to each other, right in the center of overlap.</a:t>
            </a:r>
          </a:p>
          <a:p/>
          <a:p>
            <a:r>
              <a:t>This is the HONEST picture after debiasing. Contrast this with what you'd get from a regular </a:t>
            </a:r>
          </a:p>
          <a:p>
            <a:r>
              <a:t>CryoSPARC run: the dots would be scattered near the corners (0.99, 0.01) type values — </a:t>
            </a:r>
          </a:p>
          <a:p>
            <a:r>
              <a:t>completely overconfident.</a:t>
            </a:r>
          </a:p>
          <a:p/>
          <a:p>
            <a:r>
              <a:t>The diagonal negative correlation you see — when P6 probability is high, P7 tends to be low — </a:t>
            </a:r>
          </a:p>
          <a:p>
            <a:r>
              <a:t>that's mathematically forced because the three probabilities always sum to 1.</a:t>
            </a:r>
          </a:p>
          <a:p/>
          <a:p>
            <a:r>
              <a:t>Bottom line: these three classes don't correspond to three isolated, well-separated populations. </a:t>
            </a:r>
          </a:p>
          <a:p>
            <a:r>
              <a:t>They're more like three preferred positions along a continuum of conformational states.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9 (CryoDRGN)</a:t>
            </a:r>
          </a:p>
          <a:p/>
          <a:p>
            <a:r>
              <a:t>Now let me introduce the second major method I used: CryoDRGN, which is a neural network </a:t>
            </a:r>
          </a:p>
          <a:p>
            <a:r>
              <a:t>approach to this same problem.</a:t>
            </a:r>
          </a:p>
          <a:p/>
          <a:p>
            <a:r>
              <a:t>The architecture is called a Variational Autoencoder, or VAE. You can think of it as </a:t>
            </a:r>
          </a:p>
          <a:p>
            <a:r>
              <a:t>two neural networks connected back-to-back:</a:t>
            </a:r>
          </a:p>
          <a:p/>
          <a:p>
            <a:r>
              <a:t>The ENCODER takes a raw particle image (which is very noisy and has complex variations </a:t>
            </a:r>
          </a:p>
          <a:p>
            <a:r>
              <a:t>in contrast) and compresses it down to a small vector of about 10 numbers. This vector — </a:t>
            </a:r>
          </a:p>
          <a:p>
            <a:r>
              <a:t>called z — is the particle's "fingerprint" or "conformational address." Similar shapes </a:t>
            </a:r>
          </a:p>
          <a:p>
            <a:r>
              <a:t>should get similar z vectors.</a:t>
            </a:r>
          </a:p>
          <a:p/>
          <a:p>
            <a:r>
              <a:t>The DECODER takes that small z vector and tries to reconstruct the original particle image.</a:t>
            </a:r>
          </a:p>
          <a:p/>
          <a:p>
            <a:r>
              <a:t>The training objective shown — called the ELBO — has two parts:</a:t>
            </a:r>
          </a:p>
          <a:p>
            <a:r>
              <a:t>1. Reconstruction quality: how well does the decoder recreate the original image?</a:t>
            </a:r>
          </a:p>
          <a:p>
            <a:r>
              <a:t>2. KL divergence: keeps the latent space organized and prevents it from spreading out chaotically</a:t>
            </a:r>
          </a:p>
          <a:p/>
          <a:p>
            <a:r>
              <a:t>The critical difference from CryoSPARC is that cryoDRGN is UNSUPERVISED. It never looks at </a:t>
            </a:r>
          </a:p>
          <a:p>
            <a:r>
              <a:t>any reference maps. It figures out the structure purely from the raw data. </a:t>
            </a:r>
          </a:p>
          <a:p/>
          <a:p>
            <a:r>
              <a:t>There's one caveat: we do use CryoSPARC's pose estimates (which direction each particle was </a:t>
            </a:r>
          </a:p>
          <a:p>
            <a:r>
              <a:t>facing) as input. This is an indirect dependency. However, the fact that BOTH methods end up </a:t>
            </a:r>
          </a:p>
          <a:p>
            <a:r>
              <a:t>finding the same three classes — even with this indirect link — gives us confidence that the </a:t>
            </a:r>
          </a:p>
          <a:p>
            <a:r>
              <a:t>classes are real, not artifacts.</a:t>
            </a:r>
          </a:p>
          <a:p/>
          <a:p>
            <a:r>
              <a:t>After training, we have a 10-dimensional latent space. We then use Principal Component Analysis </a:t>
            </a:r>
          </a:p>
          <a:p>
            <a:r>
              <a:t>(PCA) and free-energy calculations to understand what it looks like.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10 (Latent Space: 3 Clear Classes)</a:t>
            </a:r>
          </a:p>
          <a:p/>
          <a:p>
            <a:r>
              <a:t>This is our headline result. Look at the left figure — it shows the raw output of cryoDRGN </a:t>
            </a:r>
          </a:p>
          <a:p>
            <a:r>
              <a:t>after training. Each dot is one of the 230,000 particles, plotted in the first two principal </a:t>
            </a:r>
          </a:p>
          <a:p>
            <a:r>
              <a:t>components of the 10-dimensional latent space.</a:t>
            </a:r>
          </a:p>
          <a:p/>
          <a:p>
            <a:r>
              <a:t>You can clearly see THREE distinct blobs. No guidance was given to the algorithm about how </a:t>
            </a:r>
          </a:p>
          <a:p>
            <a:r>
              <a:t>many classes to find, yet it spontaneously separated the data into three groups.</a:t>
            </a:r>
          </a:p>
          <a:p/>
          <a:p>
            <a:r>
              <a:t>On the right, I've fit a 3-component Gaussian Mixture Model to the FULL 10-dimensional latent </a:t>
            </a:r>
          </a:p>
          <a:p>
            <a:r>
              <a:t>space (not just the 2D projection). The three colored ellipses correspond to the three classes, </a:t>
            </a:r>
          </a:p>
          <a:p>
            <a:r>
              <a:t>labelled with their biological names. The key metric is the minimum separation between any two </a:t>
            </a:r>
          </a:p>
          <a:p>
            <a:r>
              <a:t>components: 2.60 standard deviations. A separation greater than 2 SD means the classes are </a:t>
            </a:r>
          </a:p>
          <a:p>
            <a:r>
              <a:t>genuinely distinguishable — they're not just overlapping blobs.</a:t>
            </a:r>
          </a:p>
          <a:p/>
          <a:p>
            <a:r>
              <a:t>These three latent components correspond exactly to the same three classes that CryoSPARC </a:t>
            </a:r>
          </a:p>
          <a:p>
            <a:r>
              <a:t>identified — NBD1LessMix-Ablated (P6), NBD1LessWide-Ablated (P7), and VshapedMix (P8).</a:t>
            </a:r>
          </a:p>
          <a:p/>
          <a:p>
            <a:r>
              <a:t>This is the core result: TWO completely independent methods, starting from different </a:t>
            </a:r>
          </a:p>
          <a:p>
            <a:r>
              <a:t>assumptions, both find the same three CFTR conformational states. This mutual validation gives </a:t>
            </a:r>
          </a:p>
          <a:p>
            <a:r>
              <a:t>us much higher confidence that these three states are real structural features of the protein, </a:t>
            </a:r>
          </a:p>
          <a:p>
            <a:r>
              <a:t>not just artifacts of one particular algorithm.</a:t>
            </a:r>
          </a:p>
          <a:p/>
          <a:p>
            <a:r>
              <a:t>The model was trained to convergence — the loss function barely changed in the last 5 epochs </a:t>
            </a:r>
          </a:p>
          <a:p>
            <a:r>
              <a:t>(less than 0.01% change), so we know we're not seeing something that would change with more training.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11 (PC1 Marginal)</a:t>
            </a:r>
          </a:p>
          <a:p/>
          <a:p>
            <a:r>
              <a:t>This figure shows what I call the "conformational landscape" — it answers the question: </a:t>
            </a:r>
          </a:p>
          <a:p>
            <a:r>
              <a:t>what shapes does the protein PREFER to be in?</a:t>
            </a:r>
          </a:p>
          <a:p/>
          <a:p>
            <a:r>
              <a:t>The x-axis is the first principal component (PC1) of the latent space — the most important </a:t>
            </a:r>
          </a:p>
          <a:p>
            <a:r>
              <a:t>single axis of variation. The y-axis is density — how many particles are at each position.</a:t>
            </a:r>
          </a:p>
          <a:p/>
          <a:p>
            <a:r>
              <a:t>The histogram (gray bars) shows where the 230,000 particles actually are. You can clearly </a:t>
            </a:r>
          </a:p>
          <a:p>
            <a:r>
              <a:t>see THREE peaks. The colored bell curves show the three Gaussian components fitted to these </a:t>
            </a:r>
          </a:p>
          <a:p>
            <a:r>
              <a:t>peaks — red/green/blue for the three classes.</a:t>
            </a:r>
          </a:p>
          <a:p/>
          <a:p>
            <a:r>
              <a:t>The fact that all three peaks are separated but still connected by particles in between </a:t>
            </a:r>
          </a:p>
          <a:p>
            <a:r>
              <a:t>tells us something important: CFTR is not snapping discretely between three totally different </a:t>
            </a:r>
          </a:p>
          <a:p>
            <a:r>
              <a:t>shapes. Instead, it's moving along a continuous track, with three PREFERRED resting positions. </a:t>
            </a:r>
          </a:p>
          <a:p>
            <a:r>
              <a:t>It's like a ball rolling in a landscape with three shallow valleys — it tends to rest in one </a:t>
            </a:r>
          </a:p>
          <a:p>
            <a:r>
              <a:t>of the valleys, but it can move between them.</a:t>
            </a:r>
          </a:p>
          <a:p/>
          <a:p>
            <a:r>
              <a:t>An important technical note: this version uses a 1-D GMM fitted DIRECTLY on PC1 scores, </a:t>
            </a:r>
          </a:p>
          <a:p>
            <a:r>
              <a:t>which is why each bell fits its peak well. An earlier version projected the full 10-D GMM </a:t>
            </a:r>
          </a:p>
          <a:p>
            <a:r>
              <a:t>onto PC1, which made the middle bell (P7) too broad. The corrected version on the slide </a:t>
            </a:r>
          </a:p>
          <a:p>
            <a:r>
              <a:t>properly fits the peaks.</a:t>
            </a:r>
          </a:p>
          <a:p/>
          <a:p>
            <a:r>
              <a:t>The populations (how many particles in each state) are: roughly 37% P6, 29% P7, 34% P8. </a:t>
            </a:r>
          </a:p>
          <a:p>
            <a:r>
              <a:t>These numbers are very stable — they come out essentially the same whether we use D=128 or </a:t>
            </a:r>
          </a:p>
          <a:p>
            <a:r>
              <a:t>D=256 models, and whether we use the CryoSPARC posteriors or cryoDRGN's latent GMM. </a:t>
            </a:r>
          </a:p>
          <a:p>
            <a:r>
              <a:t>That reproducibility is itself a result worth noting.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12 (5-Class Problem)</a:t>
            </a:r>
          </a:p>
          <a:p/>
          <a:p>
            <a:r>
              <a:t>Now let me address an interesting challenge in this work. CryoSPARC found 5 classes when </a:t>
            </a:r>
          </a:p>
          <a:p>
            <a:r>
              <a:t>configured to look for 5 (in dataset J1497). But when I run cryoDRGN and try to find 5 </a:t>
            </a:r>
          </a:p>
          <a:p>
            <a:r>
              <a:t>clusters in the latent space, it can't do it cleanly.</a:t>
            </a:r>
          </a:p>
          <a:p/>
          <a:p>
            <a:r>
              <a:t>The confusion matrix on the left tells the story. This matrix compares what CryoSPARC says </a:t>
            </a:r>
          </a:p>
          <a:p>
            <a:r>
              <a:t>(rows = CryoSPARC classes) with what cryoDRGN says (columns = cryoDRGN classes).</a:t>
            </a:r>
          </a:p>
          <a:p/>
          <a:p>
            <a:r>
              <a:t>If the two methods agreed perfectly, you'd see all the numbers on the diagonal (top-left to </a:t>
            </a:r>
          </a:p>
          <a:p>
            <a:r>
              <a:t>bottom-right) being high, like 0.9 or 1.0. But look at P9 — 44% of CryoSPARC's P9 particles </a:t>
            </a:r>
          </a:p>
          <a:p>
            <a:r>
              <a:t>get assigned to cryoDRGN's P8 cluster. And P10 — 49% get assigned to cryoDRGN's P6.</a:t>
            </a:r>
          </a:p>
          <a:p/>
          <a:p>
            <a:r>
              <a:t>What this tells us is that from cryoDRGN's perspective, P9 and P10 are not separate clusters — </a:t>
            </a:r>
          </a:p>
          <a:p>
            <a:r>
              <a:t>they're just part of the P8 and P6 clouds. The neural network can't tell them apart because </a:t>
            </a:r>
          </a:p>
          <a:p>
            <a:r>
              <a:t>they're essentially in the same place in latent space.</a:t>
            </a:r>
          </a:p>
          <a:p/>
          <a:p>
            <a:r>
              <a:t>This isn't really a failure of the method — it's actually telling us something scientifically </a:t>
            </a:r>
          </a:p>
          <a:p>
            <a:r>
              <a:t>interesting. P9 (NBD2Less-Ablated) is probably just a variant of P8 (VshapedMix) where one </a:t>
            </a:r>
          </a:p>
          <a:p>
            <a:r>
              <a:t>domain is slightly more disordered. Similarly, P10 is a variant of P6. The structural </a:t>
            </a:r>
          </a:p>
          <a:p>
            <a:r>
              <a:t>differences exist, but they're too subtle for the neural network to separate without additional </a:t>
            </a:r>
          </a:p>
          <a:p>
            <a:r>
              <a:t>information — like a focused analysis targeting just those specific protein domains.</a:t>
            </a:r>
          </a:p>
          <a:p/>
          <a:p>
            <a:r>
              <a:t>Currently I'm exploring ways to extract these sub-states by looking at the free-energy landscape </a:t>
            </a:r>
          </a:p>
          <a:p>
            <a:r>
              <a:t>in specific regions of latent space and applying targeted classification there.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13 (J264: 9 Classes)</a:t>
            </a:r>
          </a:p>
          <a:p/>
          <a:p>
            <a:r>
              <a:t>Now let me show you the more complex dataset we've been analyzing. J264 has 301,770 particles </a:t>
            </a:r>
          </a:p>
          <a:p>
            <a:r>
              <a:t>and was classified into 9 different conformational groups by CryoSPARC.</a:t>
            </a:r>
          </a:p>
          <a:p/>
          <a:p>
            <a:r>
              <a:t>The left figure shows the raw cryoDRGN latent space — and you can already see it's more </a:t>
            </a:r>
          </a:p>
          <a:p>
            <a:r>
              <a:t>structured than J1442. PC1 explains 34% of the variance, PC2 another 28% — so the first two </a:t>
            </a:r>
          </a:p>
          <a:p>
            <a:r>
              <a:t>components already capture a lot of the interesting variation. You can count roughly 4-6 </a:t>
            </a:r>
          </a:p>
          <a:p>
            <a:r>
              <a:t>distinguishable dense regions.</a:t>
            </a:r>
          </a:p>
          <a:p/>
          <a:p>
            <a:r>
              <a:t>The right figure colors each particle by its CryoSPARC class. You can see the three main CFTR </a:t>
            </a:r>
          </a:p>
          <a:p>
            <a:r>
              <a:t>conformations — Symmetric Closed (SC), Asymmetric Closed (AC), and Asymmetric Open (AO) — </a:t>
            </a:r>
          </a:p>
          <a:p>
            <a:r>
              <a:t>all in the central dense region in different shades of blue. These are the three cleanest, most </a:t>
            </a:r>
          </a:p>
          <a:p>
            <a:r>
              <a:t>robust states from John's group's structural biology work.</a:t>
            </a:r>
          </a:p>
          <a:p/>
          <a:p>
            <a:r>
              <a:t>The "ablated" classes — the ones where entire protein domains are detached or disordered — form </a:t>
            </a:r>
          </a:p>
          <a:p>
            <a:r>
              <a:t>separate side-lobes that stick out from the main density. These are structurally more distinct.</a:t>
            </a:r>
          </a:p>
          <a:p/>
          <a:p>
            <a:r>
              <a:t>Important caveat: when I compute the free-energy landscape (probability → energy), J264 shows </a:t>
            </a:r>
          </a:p>
          <a:p>
            <a:r>
              <a:t>ONE continuous basin — no barriers. This doesn't mean there are no distinct classes; it means </a:t>
            </a:r>
          </a:p>
          <a:p>
            <a:r>
              <a:t>the 9 CryoSPARC classes are POSITIONS along a continuum of conformational changes, not 9 </a:t>
            </a:r>
          </a:p>
          <a:p>
            <a:r>
              <a:t>energetically isolated states.</a:t>
            </a:r>
          </a:p>
          <a:p/>
          <a:p>
            <a:r>
              <a:t>This is actually consistent with how CFTR biology is supposed to work — the protein is </a:t>
            </a:r>
          </a:p>
          <a:p>
            <a:r>
              <a:t>constantly flexing and opening and closing, not snapping between rigid states.</a:t>
            </a:r>
          </a:p>
          <a:p/>
          <a:p>
            <a:r>
              <a:t>I'm currently working on retaining only the "meaningful" classes (excluding the ablated variants </a:t>
            </a:r>
          </a:p>
          <a:p>
            <a:r>
              <a:t>which may be experimental artifacts) and applying targeted analysis to see if the remaining </a:t>
            </a:r>
          </a:p>
          <a:p>
            <a:r>
              <a:t>core states can be further separated.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14 (Synthesis)</a:t>
            </a:r>
          </a:p>
          <a:p/>
          <a:p>
            <a:r>
              <a:t>Let me bring everything together. What have we actually learned?</a:t>
            </a:r>
          </a:p>
          <a:p/>
          <a:p>
            <a:r>
              <a:t>The confirmed results: we have strong evidence for three core CFTR conformational states in the </a:t>
            </a:r>
          </a:p>
          <a:p>
            <a:r>
              <a:t>presence of Trikafta drugs. This evidence comes from two independent methods — CryoSPARC and </a:t>
            </a:r>
          </a:p>
          <a:p>
            <a:r>
              <a:t>cryoDRGN — and they agree. The population fractions (how many particles are in each state) are </a:t>
            </a:r>
          </a:p>
          <a:p>
            <a:r>
              <a:t>stable across different experiments and model sizes. This reproducibility is exactly what you </a:t>
            </a:r>
          </a:p>
          <a:p>
            <a:r>
              <a:t>want to see in science.</a:t>
            </a:r>
          </a:p>
          <a:p/>
          <a:p>
            <a:r>
              <a:t>The honest caveats: these three states are not like three completely different protein sculptures. </a:t>
            </a:r>
          </a:p>
          <a:p>
            <a:r>
              <a:t>They're more like three preferred positions on a flexible protein that's constantly moving. Most </a:t>
            </a:r>
          </a:p>
          <a:p>
            <a:r>
              <a:t>particles have genuinely ambiguous assignments — they're sort of in-between states. This doesn't </a:t>
            </a:r>
          </a:p>
          <a:p>
            <a:r>
              <a:t>invalidate the classification; it tells us about the thermodynamics of the protein.</a:t>
            </a:r>
          </a:p>
          <a:p/>
          <a:p>
            <a:r>
              <a:t>For the two additional states CryoSPARC finds (P9 and P10) — we can see in the neural network's </a:t>
            </a:r>
          </a:p>
          <a:p>
            <a:r>
              <a:t>latent space that they're essentially sub-states of P8 and P6. Whether they're meaningfully </a:t>
            </a:r>
          </a:p>
          <a:p>
            <a:r>
              <a:t>distinct from a biological standpoint is still an open question.</a:t>
            </a:r>
          </a:p>
          <a:p/>
          <a:p>
            <a:r>
              <a:t>For the biology: what this means is that CFTR with Trikafta is a dynamic protein. It doesn't </a:t>
            </a:r>
          </a:p>
          <a:p>
            <a:r>
              <a:t>just sit in one shape — it wobbles between several preferred shapes. The most structurally </a:t>
            </a:r>
          </a:p>
          <a:p>
            <a:r>
              <a:t>distinct states differ in the NBD (motor domain) positioning and in the exit portal at the bottom </a:t>
            </a:r>
          </a:p>
          <a:p>
            <a:r>
              <a:t>of the channel. These are likely the functional differences that matter for drug efficacy.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SPEAKING NOTES — Slide 15 (Conclusions &amp; Next Steps)</a:t>
            </a:r>
          </a:p>
          <a:p/>
          <a:p>
            <a:r>
              <a:t>To wrap up — here's a summary of what I've done and where I'm going.</a:t>
            </a:r>
          </a:p>
          <a:p/>
          <a:p>
            <a:r>
              <a:t>The work I've completed: </a:t>
            </a:r>
          </a:p>
          <a:p>
            <a:r>
              <a:t>I built a GMM (Gaussian Mixture Model) pipeline that honestly quantifies the uncertainty in </a:t>
            </a:r>
          </a:p>
          <a:p>
            <a:r>
              <a:t>CryoSPARC's particle classifications. I trained cryoDRGN neural networks on two CFTR datasets </a:t>
            </a:r>
          </a:p>
          <a:p>
            <a:r>
              <a:t>at high resolution (D=256), both of which converged completely. I established a framework for </a:t>
            </a:r>
          </a:p>
          <a:p>
            <a:r>
              <a:t>comparing the two methods against each other, and I've built automated analysis tools for </a:t>
            </a:r>
          </a:p>
          <a:p>
            <a:r>
              <a:t>finding free-energy basins and exporting particle subsets.</a:t>
            </a:r>
          </a:p>
          <a:p/>
          <a:p>
            <a:r>
              <a:t>For next steps:</a:t>
            </a:r>
          </a:p>
          <a:p>
            <a:r>
              <a:t>The most immediate is running cryodrgn analyze on the GPU cluster to generate volume </a:t>
            </a:r>
          </a:p>
          <a:p>
            <a:r>
              <a:t>reconstructions from different positions in the latent space — this will tell us what each </a:t>
            </a:r>
          </a:p>
          <a:p>
            <a:r>
              <a:t>part of the landscape actually looks like structurally.</a:t>
            </a:r>
          </a:p>
          <a:p/>
          <a:p>
            <a:r>
              <a:t>Then I want to do focused classification — rather than trying to separate all 9 classes globally, </a:t>
            </a:r>
          </a:p>
          <a:p>
            <a:r>
              <a:t>focus on just the NBD regions where the differences between P9/P10 and P8/P6 are expected to </a:t>
            </a:r>
          </a:p>
          <a:p>
            <a:r>
              <a:t>live. This should improve our ability to separate those subtle substates.</a:t>
            </a:r>
          </a:p>
          <a:p/>
          <a:p>
            <a:r>
              <a:t>I'll also export the cryoDRGN cluster particle sets as .cs files that can be used for </a:t>
            </a:r>
          </a:p>
          <a:p>
            <a:r>
              <a:t>non-uniform refinement in CryoSPARC — this is how we get the highest-quality structural </a:t>
            </a:r>
          </a:p>
          <a:p>
            <a:r>
              <a:t>maps from our classification.</a:t>
            </a:r>
          </a:p>
          <a:p/>
          <a:p>
            <a:r>
              <a:t>For J264, the plan is to rerun after excluding the ablated particles (which are probably </a:t>
            </a:r>
          </a:p>
          <a:p>
            <a:r>
              <a:t>experimental artifacts of partial purification), and see if the 3 core conformational states </a:t>
            </a:r>
          </a:p>
          <a:p>
            <a:r>
              <a:t>emerge more clearly.</a:t>
            </a:r>
          </a:p>
          <a:p/>
          <a:p>
            <a:r>
              <a:t>Ultimately, I'd like to apply 3DFlex — which is a more sophisticated tool for modeling </a:t>
            </a:r>
          </a:p>
          <a:p>
            <a:r>
              <a:t>continuous protein motion rather than discrete states. Given that our analysis shows a </a:t>
            </a:r>
          </a:p>
          <a:p>
            <a:r>
              <a:t>continuous landscape, this may be the most honest way to describe CFTR's conformational </a:t>
            </a:r>
          </a:p>
          <a:p>
            <a:r>
              <a:t>dynamics under drug treatment.</a:t>
            </a:r>
          </a:p>
          <a:p/>
          <a:p>
            <a:r>
              <a:t>Thank you — happy to take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56032"/>
            <a:ext cx="11640312" cy="4023360"/>
          </a:xfrm>
          <a:prstGeom prst="rect">
            <a:avLst/>
          </a:prstGeom>
          <a:solidFill>
            <a:srgbClr val="0E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Conformational Heterogeneity of CFTR</a:t>
            </a:r>
          </a:p>
          <a:p>
            <a:pPr algn="ctr"/>
            <a:r>
              <a:rPr sz="3400" b="1" i="0">
                <a:solidFill>
                  <a:srgbClr val="FFFFFF"/>
                </a:solidFill>
              </a:rPr>
              <a:t>Under Drug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CCFF"/>
                </a:solidFill>
              </a:rPr>
              <a:t>A Hybrid CryoEM + Deep Learning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FF"/>
                </a:solidFill>
              </a:rPr>
              <a:t>Minou Emamian  |  Hunt Lab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94457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BBFF"/>
                </a:solidFill>
              </a:rPr>
              <a:t>Methods: CryoSPARC • Gaussian Mixture Models • cryoDRGN Neural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CFTR? Why Does It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The biology behind cystic fibrosis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04040"/>
                </a:solidFill>
              </a:rPr>
              <a:t>▸ CFTR = Cystic Fibrosis Transmembrane conductance Regulator</a:t>
            </a:r>
          </a:p>
          <a:p>
            <a:r>
              <a:rPr sz="1500" b="0">
                <a:solidFill>
                  <a:srgbClr val="404040"/>
                </a:solidFill>
              </a:rPr>
              <a:t>    • A channel protein embedded in the surface of lung and gut cells</a:t>
            </a:r>
          </a:p>
          <a:p>
            <a:r>
              <a:rPr sz="1500" b="0">
                <a:solidFill>
                  <a:srgbClr val="404040"/>
                </a:solidFill>
              </a:rPr>
              <a:t>    • Its job: pump chloride ions (Cl⁻) OUT of the cell to attract water</a:t>
            </a:r>
          </a:p>
          <a:p>
            <a:r>
              <a:rPr sz="1500" b="0">
                <a:solidFill>
                  <a:srgbClr val="404040"/>
                </a:solidFill>
              </a:rPr>
              <a:t>    • Water on cell surfaces keeps mucus thin and fluid</a:t>
            </a:r>
          </a:p>
          <a:p>
            <a:r>
              <a:rPr sz="1700" b="0">
                <a:solidFill>
                  <a:srgbClr val="404040"/>
                </a:solidFill>
              </a:rPr>
              <a:t>▸ Cystic Fibrosis (CF): CFTR is broken or absent</a:t>
            </a:r>
          </a:p>
          <a:p>
            <a:r>
              <a:rPr sz="1500" b="0">
                <a:solidFill>
                  <a:srgbClr val="404040"/>
                </a:solidFill>
              </a:rPr>
              <a:t>    • Thick, sticky mucus builds up in lungs, pancreas, liver</a:t>
            </a:r>
          </a:p>
          <a:p>
            <a:r>
              <a:rPr sz="1500" b="0">
                <a:solidFill>
                  <a:srgbClr val="404040"/>
                </a:solidFill>
              </a:rPr>
              <a:t>    • ~40,000 people in the US; median survival now ~50 years</a:t>
            </a:r>
          </a:p>
          <a:p>
            <a:r>
              <a:rPr sz="1700" b="0">
                <a:solidFill>
                  <a:srgbClr val="404040"/>
                </a:solidFill>
              </a:rPr>
              <a:t>▸ Breakthrough drugs (Trikafta / elexacaftor+tezacaftor+ivacaftor)</a:t>
            </a:r>
          </a:p>
          <a:p>
            <a:r>
              <a:rPr sz="1500" b="0">
                <a:solidFill>
                  <a:srgbClr val="404040"/>
                </a:solidFill>
              </a:rPr>
              <a:t>    • Correctors: help misfolded CFTR reach the cell surface</a:t>
            </a:r>
          </a:p>
          <a:p>
            <a:r>
              <a:rPr sz="1500" b="0">
                <a:solidFill>
                  <a:srgbClr val="404040"/>
                </a:solidFill>
              </a:rPr>
              <a:t>    • Potentiator: helps the gate of CFTR stay open once there</a:t>
            </a:r>
          </a:p>
          <a:p>
            <a:r>
              <a:rPr sz="1500" b="0">
                <a:solidFill>
                  <a:srgbClr val="404040"/>
                </a:solidFill>
              </a:rPr>
              <a:t>    • Transformed CF from fatal to manageable for ~90% of patients</a:t>
            </a:r>
          </a:p>
          <a:p>
            <a:r>
              <a:rPr sz="1700" b="0">
                <a:solidFill>
                  <a:srgbClr val="404040"/>
                </a:solidFill>
              </a:rPr>
              <a:t>▸ Open question: what EXACT shape does CFTR adopt with these drugs?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051560"/>
            <a:ext cx="4206240" cy="5394960"/>
          </a:xfrm>
          <a:prstGeom prst="rect">
            <a:avLst/>
          </a:prstGeom>
          <a:solidFill>
            <a:srgbClr val="F0F0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1887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[ CFTR channel schematic ]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Shows: cell membrane, CFTR channel pore,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chloride ions flowing out, water following.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Source: Mechanism of dual pharmacological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correction and potentiation of human CFTR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(Liu et al.,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KEY INSIGHT: drugs work, but the structural 'HOW' is incomplete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CFTR's Modular Architecture &amp; Drug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Different drugs bind to different 'rooms' in the protein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CFTR has distinct structural domains (like rooms in a building):</a:t>
            </a:r>
          </a:p>
          <a:p>
            <a:r>
              <a:rPr sz="1400" b="0">
                <a:solidFill>
                  <a:srgbClr val="404040"/>
                </a:solidFill>
              </a:rPr>
              <a:t>    • NBD1 / NBD2 — Nucleotide Binding Domains: the 'engines'  (bind ATP to open/close)</a:t>
            </a:r>
          </a:p>
          <a:p>
            <a:r>
              <a:rPr sz="1400" b="0">
                <a:solidFill>
                  <a:srgbClr val="404040"/>
                </a:solidFill>
              </a:rPr>
              <a:t>    • TMD1 / TMD2 — Transmembrane Domains: the pore through the membrane</a:t>
            </a:r>
          </a:p>
          <a:p>
            <a:r>
              <a:rPr sz="1400" b="0">
                <a:solidFill>
                  <a:srgbClr val="404040"/>
                </a:solidFill>
              </a:rPr>
              <a:t>    • R-domain — Regulatory domain: a 'lock' that must be phosphorylated to allow opening</a:t>
            </a:r>
          </a:p>
          <a:p>
            <a:r>
              <a:rPr sz="1600" b="0">
                <a:solidFill>
                  <a:srgbClr val="404040"/>
                </a:solidFill>
              </a:rPr>
              <a:t>▸ Most common mutation: ΔF508 — deletes one amino acid (F508) from NBD1</a:t>
            </a:r>
          </a:p>
          <a:p>
            <a:r>
              <a:rPr sz="1400" b="0">
                <a:solidFill>
                  <a:srgbClr val="404040"/>
                </a:solidFill>
              </a:rPr>
              <a:t>    • Causes NBD1 to misfold → whole protein degraded before reaching membrane</a:t>
            </a:r>
          </a:p>
          <a:p>
            <a:r>
              <a:rPr sz="1600" b="0">
                <a:solidFill>
                  <a:srgbClr val="404040"/>
                </a:solidFill>
              </a:rPr>
              <a:t>▸ Drug binding sites (from cryo-EM structures + biochemistry):</a:t>
            </a:r>
          </a:p>
          <a:p>
            <a:r>
              <a:rPr sz="1400" b="0">
                <a:solidFill>
                  <a:srgbClr val="404040"/>
                </a:solidFill>
              </a:rPr>
              <a:t>    • Elexacaftor/Tezacaftor: bind at the NBD1–TMD2 interface (correction)</a:t>
            </a:r>
          </a:p>
          <a:p>
            <a:r>
              <a:rPr sz="1400" b="0">
                <a:solidFill>
                  <a:srgbClr val="404040"/>
                </a:solidFill>
              </a:rPr>
              <a:t>    • Ivacaftor: binds inside the pore region (potentiation)</a:t>
            </a:r>
          </a:p>
          <a:p>
            <a:r>
              <a:rPr sz="1600" b="0">
                <a:solidFill>
                  <a:srgbClr val="404040"/>
                </a:solidFill>
              </a:rPr>
              <a:t>▸ Result: multiple distinct STABLE SHAPES (conformations) of the drug-bound protein</a:t>
            </a:r>
          </a:p>
          <a:p>
            <a:r>
              <a:rPr sz="1400" b="0">
                <a:solidFill>
                  <a:srgbClr val="404040"/>
                </a:solidFill>
              </a:rPr>
              <a:t>    • These are what we are imaging and classifying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051560"/>
            <a:ext cx="4206240" cy="5029200"/>
          </a:xfrm>
          <a:prstGeom prst="rect">
            <a:avLst/>
          </a:prstGeom>
          <a:solidFill>
            <a:srgbClr val="F0F0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1887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[ CFTR 3D structure ]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Shows: NBD1, NBD2, TMD1, TMD2, R-domain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Drug binding pockets highlighted.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Source: Flatiron CFTR Hierarchical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Unfolding Poster (2025) and/or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Liu et al.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Biological class names used in this study:</a:t>
            </a:r>
          </a:p>
          <a:p>
            <a:pPr algn="l"/>
            <a:r>
              <a:rPr sz="1200" b="0" i="1">
                <a:solidFill>
                  <a:srgbClr val="2E75B6"/>
                </a:solidFill>
              </a:rPr>
              <a:t>P6=NBD1LessMix-Ablated  |  P7=NBD1LessWide-Ablated  |  P8=VshapedMix</a:t>
            </a:r>
          </a:p>
          <a:p>
            <a:pPr algn="l"/>
            <a:r>
              <a:rPr sz="1200" b="0" i="1">
                <a:solidFill>
                  <a:srgbClr val="2E75B6"/>
                </a:solidFill>
              </a:rPr>
              <a:t>P9=NBD2Less-Ablated  |  P10=AltNBD1-ArdeconComposite-Ablated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CryoEM: Photographing Individual Proteins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How we actually see CFTR at atomic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02920" cy="59436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161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1615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Purify CFTR protein + add drug (Trikafta)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50292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208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082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Mix with lipid nanodiscs → stable membrane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52344"/>
            <a:ext cx="502920" cy="594360"/>
          </a:xfrm>
          <a:prstGeom prst="rect">
            <a:avLst/>
          </a:prstGeom>
          <a:solidFill>
            <a:srgbClr val="37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8254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2549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Plunge-freeze into liquid ethane → vitreous ice (~−170°C)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57016"/>
            <a:ext cx="50292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630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Load into electron microscope; collect 10,000–100,000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61688"/>
            <a:ext cx="502920" cy="59436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Computational alignment: find which direction each particle is facing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66360"/>
            <a:ext cx="50292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2395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395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3D reconstruction from millions of aligned 2D projections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1051560"/>
            <a:ext cx="4389120" cy="5120640"/>
          </a:xfrm>
          <a:prstGeom prst="rect">
            <a:avLst/>
          </a:prstGeom>
          <a:solidFill>
            <a:srgbClr val="F0F0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188720"/>
            <a:ext cx="4069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[ CryoEM workflow diagram ]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Shows the pipeline from: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protein + drug → frozen grid →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electron micrograph → particle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picking → 2D classes → 3D volume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Source: Punjani et al. 2017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Nature Methods (cryoSPARC paper)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0807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55A11"/>
                </a:solidFill>
              </a:rPr>
              <a:t>Key challenge: each image is EXTREMELY noisy (signal-to-noise ratio ~0.1)</a:t>
            </a:r>
          </a:p>
          <a:p>
            <a:pPr algn="l"/>
            <a:r>
              <a:rPr sz="1300" b="0" i="1">
                <a:solidFill>
                  <a:srgbClr val="C55A11"/>
                </a:solidFill>
              </a:rPr>
              <a:t>AND each protein is in a random orientation — we don't control which way it's facing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Challenge: One Protein, Many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Heterogeneous reconstruction — the core problem of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04040"/>
                </a:solidFill>
              </a:rPr>
              <a:t>▸ PROBLEM: CryoEM collects images of ALL conformations mixed together</a:t>
            </a:r>
          </a:p>
          <a:p>
            <a:r>
              <a:rPr sz="1500" b="0">
                <a:solidFill>
                  <a:srgbClr val="404040"/>
                </a:solidFill>
              </a:rPr>
              <a:t>    • If we average everything naively → blurry, meaningless map</a:t>
            </a:r>
          </a:p>
          <a:p>
            <a:r>
              <a:rPr sz="1500" b="0">
                <a:solidFill>
                  <a:srgbClr val="404040"/>
                </a:solidFill>
              </a:rPr>
              <a:t>    • Like averaging photographs of a running person — you'd get a blur</a:t>
            </a:r>
          </a:p>
          <a:p>
            <a:r>
              <a:rPr sz="1700" b="0">
                <a:solidFill>
                  <a:srgbClr val="404040"/>
                </a:solidFill>
              </a:rPr>
              <a:t>▸ GOAL: sort 100,000+ particle images into conformational classes</a:t>
            </a:r>
          </a:p>
          <a:p>
            <a:r>
              <a:rPr sz="1500" b="0">
                <a:solidFill>
                  <a:srgbClr val="404040"/>
                </a:solidFill>
              </a:rPr>
              <a:t>    • Each class = one distinct shape of the protein</a:t>
            </a:r>
          </a:p>
          <a:p>
            <a:r>
              <a:rPr sz="1500" b="0">
                <a:solidFill>
                  <a:srgbClr val="404040"/>
                </a:solidFill>
              </a:rPr>
              <a:t>    • Then reconstruct a 3D map for each class separately</a:t>
            </a:r>
          </a:p>
          <a:p>
            <a:r>
              <a:rPr sz="1700" b="0">
                <a:solidFill>
                  <a:srgbClr val="404040"/>
                </a:solidFill>
              </a:rPr>
              <a:t>▸ For CFTR + Trikafta, CryoSPARC found:</a:t>
            </a:r>
          </a:p>
          <a:p>
            <a:r>
              <a:rPr sz="1500" b="0">
                <a:solidFill>
                  <a:srgbClr val="404040"/>
                </a:solidFill>
              </a:rPr>
              <a:t>    • Dataset J1442: 3 classes (K=3) with 230,396 particles</a:t>
            </a:r>
          </a:p>
          <a:p>
            <a:r>
              <a:rPr sz="1500" b="0">
                <a:solidFill>
                  <a:srgbClr val="404040"/>
                </a:solidFill>
              </a:rPr>
              <a:t>    • Dataset J1497: 5 classes (K=5) — same particles, different model</a:t>
            </a:r>
          </a:p>
          <a:p>
            <a:r>
              <a:rPr sz="1500" b="0">
                <a:solidFill>
                  <a:srgbClr val="404040"/>
                </a:solidFill>
              </a:rPr>
              <a:t>    • Dataset J264: 9 classes (K=9) with 301,770 particles</a:t>
            </a:r>
          </a:p>
          <a:p>
            <a:r>
              <a:rPr sz="1700" b="0">
                <a:solidFill>
                  <a:srgbClr val="404040"/>
                </a:solidFill>
              </a:rPr>
              <a:t>▸ The challenge: are these really distinct conformations or artifacts?</a:t>
            </a:r>
          </a:p>
          <a:p>
            <a:r>
              <a:rPr sz="1500" b="0">
                <a:solidFill>
                  <a:srgbClr val="404040"/>
                </a:solidFill>
              </a:rPr>
              <a:t>    • BOTH methods agree on the core 3 states — this is our strongest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E8F0F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035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A6C"/>
                </a:solidFill>
              </a:rPr>
              <a:t>This talk: compare TWO independent approaches — CryoSPARC (reference-based) vs cryoDRGN (reference-free neural network) — to build confidence in the classifications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CryoSPARC Heterogeneous Refinement: Power &amp;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The 'Einstein from noise' problem in iterative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C"/>
                </a:solidFill>
              </a:rPr>
              <a:t>How it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Start with K reference 3D maps (from ab-initio reconstruction)</a:t>
            </a:r>
          </a:p>
          <a:p>
            <a:r>
              <a:rPr sz="1600" b="0">
                <a:solidFill>
                  <a:srgbClr val="404040"/>
                </a:solidFill>
              </a:rPr>
              <a:t>▸ E-step: assign each particle to its most-likely class (based on correlation to reference)</a:t>
            </a:r>
          </a:p>
          <a:p>
            <a:r>
              <a:rPr sz="1600" b="0">
                <a:solidFill>
                  <a:srgbClr val="404040"/>
                </a:solidFill>
              </a:rPr>
              <a:t>▸ M-step: rebuild each class map from its assigned particles</a:t>
            </a:r>
          </a:p>
          <a:p>
            <a:r>
              <a:rPr sz="1600" b="0">
                <a:solidFill>
                  <a:srgbClr val="404040"/>
                </a:solidFill>
              </a:rPr>
              <a:t>▸ Iterate until convergence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5A11"/>
                </a:solidFill>
              </a:rPr>
              <a:t>The bias problem: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11430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'Einstein from noise': show reference maps, the algorithm finds a match even in pure noise</a:t>
            </a:r>
          </a:p>
          <a:p>
            <a:r>
              <a:rPr sz="1400" b="0">
                <a:solidFill>
                  <a:srgbClr val="404040"/>
                </a:solidFill>
              </a:rPr>
              <a:t>    • Convergence to LOCAL optimum near the starting references, not THE global truth</a:t>
            </a:r>
          </a:p>
          <a:p>
            <a:r>
              <a:rPr sz="1600" b="0">
                <a:solidFill>
                  <a:srgbClr val="404040"/>
                </a:solidFill>
              </a:rPr>
              <a:t>▸ Near one-hot posteriors: algorithm becomes OVERCONFIDENT in its class assignments</a:t>
            </a:r>
          </a:p>
          <a:p>
            <a:r>
              <a:rPr sz="1400" b="0">
                <a:solidFill>
                  <a:srgbClr val="404040"/>
                </a:solidFill>
              </a:rPr>
              <a:t>    • For J1442: after biased refinement, mean max-posterior = 0.992 (≈100% confident)</a:t>
            </a:r>
          </a:p>
          <a:p>
            <a:r>
              <a:rPr sz="1400" b="0">
                <a:solidFill>
                  <a:srgbClr val="404040"/>
                </a:solidFill>
              </a:rPr>
              <a:t>    • After DEBIASED single E-step (J1442 honest): mean = 0.362 (≈ 1/3 each = flat)</a:t>
            </a:r>
          </a:p>
          <a:p>
            <a:r>
              <a:rPr sz="1600" b="0">
                <a:solidFill>
                  <a:srgbClr val="404040"/>
                </a:solidFill>
              </a:rPr>
              <a:t>▸ This means: most particles are genuinely ambiguous between the 3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E-step formula:  P(class k | particle n) ∝ P(image n | class k) × P(class k)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After many iterations: P → one-hot vector (0,0,...,1,...,0)  ← overconfidence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GMM Pipeline: Honest 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Fitting a Gaussian Mixture Model to the posterior probability simplex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04040"/>
                </a:solidFill>
              </a:rPr>
              <a:t>▸ Input: each particle has a vector (P6, P7, P8) summing to 1.0  (K×1 probability vector)</a:t>
            </a:r>
          </a:p>
          <a:p>
            <a:r>
              <a:rPr sz="1700" b="0">
                <a:solidFill>
                  <a:srgbClr val="404040"/>
                </a:solidFill>
              </a:rPr>
              <a:t>▸ Problem: this lives on a 2D simplex — standard Gaussian doesn't apply</a:t>
            </a:r>
          </a:p>
          <a:p>
            <a:r>
              <a:rPr sz="1700" b="0">
                <a:solidFill>
                  <a:srgbClr val="404040"/>
                </a:solidFill>
              </a:rPr>
              <a:t>▸ Solution: Additive Log-Ratio (ALR) transform to make it unconstrained: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943600" cy="640080"/>
          </a:xfrm>
          <a:prstGeom prst="rect">
            <a:avLst/>
          </a:prstGeom>
          <a:solidFill>
            <a:srgbClr val="E8F0FE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C"/>
                </a:solidFill>
              </a:rPr>
              <a:t>  ALR:  yⱼ = log( pⱼ / pₖ )    (drop last component as reference)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04040"/>
                </a:solidFill>
              </a:rPr>
              <a:t>▸ Then fit K-component GMM in ALR space: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8229600" cy="685800"/>
          </a:xfrm>
          <a:prstGeom prst="rect">
            <a:avLst/>
          </a:prstGeom>
          <a:solidFill>
            <a:srgbClr val="FFF3E0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000"/>
                </a:solidFill>
              </a:rPr>
              <a:t>  p(x) = Σₖ πₖ · 𝒩(x ; μₖ , Σₖ)    (GMM likelihood)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3484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Outputs of the GMM pipeline:</a:t>
            </a:r>
          </a:p>
          <a:p>
            <a:r>
              <a:rPr sz="1400" b="0">
                <a:solidFill>
                  <a:srgbClr val="404040"/>
                </a:solidFill>
              </a:rPr>
              <a:t>    • GMM responsibilities rₙₖ = soft class membership per particle</a:t>
            </a:r>
          </a:p>
          <a:p>
            <a:r>
              <a:rPr sz="1400" b="0">
                <a:solidFill>
                  <a:srgbClr val="404040"/>
                </a:solidFill>
              </a:rPr>
              <a:t>    • Soft confusion matrix: how often each class 'bleeds into' another</a:t>
            </a:r>
          </a:p>
          <a:p>
            <a:r>
              <a:rPr sz="1400" b="0">
                <a:solidFill>
                  <a:srgbClr val="404040"/>
                </a:solidFill>
              </a:rPr>
              <a:t>    • Bootstrap-corrected population estimates with confidence intervals</a:t>
            </a:r>
          </a:p>
          <a:p>
            <a:r>
              <a:rPr sz="1400" b="0">
                <a:solidFill>
                  <a:srgbClr val="404040"/>
                </a:solidFill>
              </a:rPr>
              <a:t>    • Exportable particle subsets above a confidence threshold</a:t>
            </a:r>
          </a:p>
          <a:p>
            <a:r>
              <a:rPr sz="1600" b="0">
                <a:solidFill>
                  <a:srgbClr val="404040"/>
                </a:solidFill>
              </a:rPr>
              <a:t>▸ Key finding: J1442 GMM components heavily overlap near (0.33, 0.33, 0.33)</a:t>
            </a:r>
          </a:p>
          <a:p>
            <a:r>
              <a:rPr sz="1400" b="0">
                <a:solidFill>
                  <a:srgbClr val="404040"/>
                </a:solidFill>
              </a:rPr>
              <a:t>    • Classes are genuinely ambiguous — the 3 states are positions on a continuum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Posterior Overlap: Three Classes Share the Same Probability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J1442 (K=3) — 230,396 CFTR particles, CryoSPARC debiased posteriors</a:t>
            </a:r>
          </a:p>
        </p:txBody>
      </p:sp>
      <p:pic>
        <p:nvPicPr>
          <p:cNvPr id="5" name="Picture 4" descr="pairwise_posterior_scatter_J14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8686800" cy="28710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06840" y="1097280"/>
            <a:ext cx="3017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How to read this: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• Each dot = one particle  (subsampled to 50k for clarity)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• Color = which class CryoSPARC assigned it to (P6=red, P7=orange, P8=gray)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• X-axis / Y-axis = CryoSPARC's probability for each class  (e.g. x=P(P6))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• White dot = mean position of each class;  ellipses = 1σ / 2σ spread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• If classes were perfectly distinct: each cloud would be in a corner (0,0), (1,0), (0,1)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• Instead: ALL three clouds pile up near the CENTER (≈ 0.33, 0.33)</a:t>
            </a:r>
          </a:p>
          <a:p>
            <a:pPr algn="l"/>
            <a:r>
              <a:rPr sz="1300" b="0" i="0">
                <a:solidFill>
                  <a:srgbClr val="404040"/>
                </a:solidFill>
              </a:rPr>
              <a:t>  → The algorithm is essentially guessing — it has no real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309360"/>
            <a:ext cx="11887200" cy="411480"/>
          </a:xfrm>
          <a:prstGeom prst="rect">
            <a:avLst/>
          </a:prstGeom>
          <a:solidFill>
            <a:srgbClr val="FFF0E0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3679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5A11"/>
                </a:solidFill>
              </a:rPr>
              <a:t>Key message: all three class clouds overlap near probability = 1/3 for all classes — indicating fundamental conformational ambiguity, NOT three discrete states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CryoDRGN: An Unsupervised Neural Network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Learning the conformational landscape without reference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C"/>
                </a:solidFill>
              </a:rPr>
              <a:t>Architecture: Variational Autoencoder (VAE)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286000" cy="2560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ENCODER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(conv neural net)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Input: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raw particle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2286000" cy="2560320"/>
          </a:xfrm>
          <a:prstGeom prst="rect">
            <a:avLst/>
          </a:prstGeom>
          <a:solidFill>
            <a:srgbClr val="37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LATENT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SPACE z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~10-dim vector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(each particle's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'fingerprint')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828800"/>
            <a:ext cx="2286000" cy="2560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9659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DECODER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(fully-connected net)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Output: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reconstructed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A6C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A6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7863840" cy="685800"/>
          </a:xfrm>
          <a:prstGeom prst="rect">
            <a:avLst/>
          </a:prstGeom>
          <a:solidFill>
            <a:srgbClr val="F0F8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C"/>
                </a:solidFill>
              </a:rPr>
              <a:t>  Training objective (ELBO):  ℒ = 𝔼[log p(x|z)] − β · KL( q(z|x) ‖ p(z) )</a:t>
            </a:r>
          </a:p>
          <a:p>
            <a:pPr algn="l"/>
            <a:r>
              <a:rPr sz="1300" b="1" i="0">
                <a:solidFill>
                  <a:srgbClr val="1A3A6C"/>
                </a:solidFill>
              </a:rPr>
              <a:t>  Reconstruction term → decoder learns to generate images  |  KL term → latent stays compact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097280"/>
            <a:ext cx="3840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▸ Input: pose-corrected particle images (poses borrowed from CryoSPARC) + CTF</a:t>
            </a:r>
          </a:p>
          <a:p>
            <a:r>
              <a:rPr sz="1500" b="0">
                <a:solidFill>
                  <a:srgbClr val="404040"/>
                </a:solidFill>
              </a:rPr>
              <a:t>▸ Output: per-particle 10-dim latent vector z — each particle's 'conformational address'</a:t>
            </a:r>
          </a:p>
          <a:p>
            <a:r>
              <a:rPr sz="1500" b="0">
                <a:solidFill>
                  <a:srgbClr val="404040"/>
                </a:solidFill>
              </a:rPr>
              <a:t>▸ Key strength: NO reference maps needed — unsupervised by design</a:t>
            </a:r>
          </a:p>
          <a:p>
            <a:r>
              <a:rPr sz="1500" b="0">
                <a:solidFill>
                  <a:srgbClr val="404040"/>
                </a:solidFill>
              </a:rPr>
              <a:t>▸ Caveat: uses CryoSPARC-derived poses (one indirect dependency; mitigated by agreement)</a:t>
            </a:r>
          </a:p>
          <a:p>
            <a:r>
              <a:rPr sz="1500" b="0">
                <a:solidFill>
                  <a:srgbClr val="404040"/>
                </a:solidFill>
              </a:rPr>
              <a:t>▸ Then we apply PCA + KDE to z to find the conformational landscape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Latent Space: CryoDRGN Independently Finds 3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J1442 fullset D=256, zdim=10, 100 epochs — CONVERGED (loss change &lt;0.01%/epoch)</a:t>
            </a:r>
          </a:p>
        </p:txBody>
      </p:sp>
      <p:pic>
        <p:nvPicPr>
          <p:cNvPr id="5" name="Picture 4" descr="z_pca_margi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937760" cy="4937760"/>
          </a:xfrm>
          <a:prstGeom prst="rect">
            <a:avLst/>
          </a:prstGeom>
        </p:spPr>
      </p:pic>
      <p:pic>
        <p:nvPicPr>
          <p:cNvPr id="6" name="Picture 5" descr="panel_A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51560"/>
            <a:ext cx="7132320" cy="6240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9436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LEFT: Raw latent PCA (analyze output)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3 distinct density lobes visible;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PC1/PC2 explain 23.5%+15.9%=39.4%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5943600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RIGHT: K=3 GMM fit in full 10-D latent (visualized on PC1-PC2 plane)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3 labelled components with biological names; min separation = 2.60 SD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(&gt;2.0 SD = genuinely distinct classes in multidimensional sense)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29400"/>
            <a:ext cx="11795760" cy="18288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56832"/>
            <a:ext cx="11521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Same 3 classes as CryoSPARC heteroref — found INDEPENDENTLY without reference maps → strong validation of the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Conformational Axis: 3 Peaks Along PC1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Free-energy landscape reveals a continuous coordinate with 3 preferred positions</a:t>
            </a:r>
          </a:p>
        </p:txBody>
      </p:sp>
      <p:pic>
        <p:nvPicPr>
          <p:cNvPr id="5" name="Picture 4" descr="panel_D_pc1_mar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64008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0515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▸ PC1 = dominant conformational axis (explains 23% of latent variance)</a:t>
            </a:r>
          </a:p>
          <a:p>
            <a:r>
              <a:rPr sz="1500" b="0">
                <a:solidFill>
                  <a:srgbClr val="404040"/>
                </a:solidFill>
              </a:rPr>
              <a:t>▸ F(PC1) = −log p(PC1): maps density to 'energy' (lower = more populated)</a:t>
            </a:r>
          </a:p>
          <a:p>
            <a:r>
              <a:rPr sz="1500" b="0">
                <a:solidFill>
                  <a:srgbClr val="404040"/>
                </a:solidFill>
              </a:rPr>
              <a:t>▸ 3 peaks along PC1 align with P6, P7, P8 class assignments</a:t>
            </a:r>
          </a:p>
          <a:p>
            <a:r>
              <a:rPr sz="1500" b="0">
                <a:solidFill>
                  <a:srgbClr val="404040"/>
                </a:solidFill>
              </a:rPr>
              <a:t>▸ Peaks connected by populated valleys — a continuous coordinate,</a:t>
            </a:r>
          </a:p>
          <a:p>
            <a:r>
              <a:rPr sz="1300" b="0">
                <a:solidFill>
                  <a:srgbClr val="404040"/>
                </a:solidFill>
              </a:rPr>
              <a:t>    • not 3 isolated species. Separation ~1.5–2 kT at D=128</a:t>
            </a:r>
          </a:p>
          <a:p>
            <a:r>
              <a:rPr sz="1500" b="0">
                <a:solidFill>
                  <a:srgbClr val="404040"/>
                </a:solidFill>
              </a:rPr>
              <a:t>▸ At D=256 (higher resolution): separation in higher dimensions</a:t>
            </a:r>
          </a:p>
          <a:p>
            <a:r>
              <a:rPr sz="1300" b="0">
                <a:solidFill>
                  <a:srgbClr val="404040"/>
                </a:solidFill>
              </a:rPr>
              <a:t>    • GMM min separation 2.60 SD — cleanly resolved in full 10-D</a:t>
            </a:r>
          </a:p>
          <a:p>
            <a:r>
              <a:rPr sz="1300" b="0">
                <a:solidFill>
                  <a:srgbClr val="404040"/>
                </a:solidFill>
              </a:rPr>
              <a:t>    • PC1 alone shows 1 well — the resolution matters!</a:t>
            </a:r>
          </a:p>
          <a:p>
            <a:r>
              <a:rPr sz="1500" b="0">
                <a:solidFill>
                  <a:srgbClr val="404040"/>
                </a:solidFill>
              </a:rPr>
              <a:t>▸ KEY: the 3 preferred positions are REPRODUCIBLE</a:t>
            </a:r>
          </a:p>
          <a:p>
            <a:r>
              <a:rPr sz="1300" b="0">
                <a:solidFill>
                  <a:srgbClr val="404040"/>
                </a:solidFill>
              </a:rPr>
              <a:t>    • J1442 3-class populations: P6≈37%, P7≈29%, P8≈34%</a:t>
            </a:r>
          </a:p>
          <a:p>
            <a:r>
              <a:rPr sz="1300" b="0">
                <a:solidFill>
                  <a:srgbClr val="404040"/>
                </a:solidFill>
              </a:rPr>
              <a:t>    • Stable across D=128/D=256 runs and multiple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17220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Bell curves fitted in 1-D on PC1 — each bell = one class distribution along the dominant axis.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This is the corrected version: 1-D GMM fitted to PC1 scores (not full-latent projected).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5-Class Challenge: Why P9 and P10 Elude cryoDRGN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CryoSPARC finds 5 classes; the neural network can only cleanly recover 3</a:t>
            </a:r>
          </a:p>
        </p:txBody>
      </p:sp>
      <p:pic>
        <p:nvPicPr>
          <p:cNvPr id="5" name="Picture 4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6583680" cy="54386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51560"/>
            <a:ext cx="5120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▸ CryoSPARC J1497 (same particles, K=5): finds P6, P7, P8, P9, P10</a:t>
            </a:r>
          </a:p>
          <a:p>
            <a:r>
              <a:rPr sz="1200" b="0">
                <a:solidFill>
                  <a:srgbClr val="404040"/>
                </a:solidFill>
              </a:rPr>
              <a:t>    • P9 = NBD2Less-Ablated  |  P10 = AltNBD1-ArdeconComposite-Ablated</a:t>
            </a:r>
          </a:p>
          <a:p>
            <a:r>
              <a:rPr sz="1400" b="0">
                <a:solidFill>
                  <a:srgbClr val="404040"/>
                </a:solidFill>
              </a:rPr>
              <a:t>▸ cryoDRGN K=5 GMM fit: min separation = 0.79 SD  (&lt;2 = overlapping)</a:t>
            </a:r>
          </a:p>
          <a:p>
            <a:r>
              <a:rPr sz="1200" b="0">
                <a:solidFill>
                  <a:srgbClr val="404040"/>
                </a:solidFill>
              </a:rPr>
              <a:t>    • Compare: K=3 gets 2.60 SD — cleanly distinct</a:t>
            </a:r>
          </a:p>
          <a:p>
            <a:r>
              <a:rPr sz="1400" b="0">
                <a:solidFill>
                  <a:srgbClr val="404040"/>
                </a:solidFill>
              </a:rPr>
              <a:t>▸ Confusion matrix (LEFT) shows:</a:t>
            </a:r>
          </a:p>
          <a:p>
            <a:r>
              <a:rPr sz="1200" b="0">
                <a:solidFill>
                  <a:srgbClr val="404040"/>
                </a:solidFill>
              </a:rPr>
              <a:t>    • 49% of CryoSPARC P10 particles → cryoDRGN assigns them to P6</a:t>
            </a:r>
          </a:p>
          <a:p>
            <a:r>
              <a:rPr sz="1200" b="0">
                <a:solidFill>
                  <a:srgbClr val="404040"/>
                </a:solidFill>
              </a:rPr>
              <a:t>    • 44% of CryoSPARC P9 particles → cryoDRGN assigns them to P8</a:t>
            </a:r>
          </a:p>
          <a:p>
            <a:r>
              <a:rPr sz="1400" b="0">
                <a:solidFill>
                  <a:srgbClr val="404040"/>
                </a:solidFill>
              </a:rPr>
              <a:t>▸ Interpretation: P10 ≈ P6 and P9 ≈ P8 in the neural network's view</a:t>
            </a:r>
          </a:p>
          <a:p>
            <a:r>
              <a:rPr sz="1200" b="0">
                <a:solidFill>
                  <a:srgbClr val="404040"/>
                </a:solidFill>
              </a:rPr>
              <a:t>    • The two extra classes are SUBSTATES of the 3 core states</a:t>
            </a:r>
          </a:p>
          <a:p>
            <a:r>
              <a:rPr sz="1400" b="0">
                <a:solidFill>
                  <a:srgbClr val="404040"/>
                </a:solidFill>
              </a:rPr>
              <a:t>▸ Why are they hard? Both free-energy analyses (J1442 &amp; J1497)</a:t>
            </a:r>
          </a:p>
          <a:p>
            <a:r>
              <a:rPr sz="1200" b="0">
                <a:solidFill>
                  <a:srgbClr val="404040"/>
                </a:solidFill>
              </a:rPr>
              <a:t>    • confirm 1 continuous basin — no energetic barrier separates P9/P10</a:t>
            </a:r>
          </a:p>
          <a:p>
            <a:r>
              <a:rPr sz="1400" b="0">
                <a:solidFill>
                  <a:srgbClr val="404040"/>
                </a:solidFill>
              </a:rPr>
              <a:t>▸ NOT a failure: supports that P9/P10 are subtle structural variants</a:t>
            </a:r>
          </a:p>
          <a:p>
            <a:r>
              <a:rPr sz="1200" b="0">
                <a:solidFill>
                  <a:srgbClr val="404040"/>
                </a:solidFill>
              </a:rPr>
              <a:t>    • Ongoing work: focused classification targeting specific domains may separate them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J264: A Richer Dataset — 9 Conformational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301,770 particles, D=256 training — emerging cluster structure</a:t>
            </a:r>
          </a:p>
        </p:txBody>
      </p:sp>
      <p:pic>
        <p:nvPicPr>
          <p:cNvPr id="5" name="Picture 4" descr="z_pca_margi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4846320"/>
          </a:xfrm>
          <a:prstGeom prst="rect">
            <a:avLst/>
          </a:prstGeom>
        </p:spPr>
      </p:pic>
      <p:pic>
        <p:nvPicPr>
          <p:cNvPr id="6" name="Picture 5" descr="panel_B_cryosparc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51560"/>
            <a:ext cx="6949440" cy="6080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9436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LEFT: Raw latent PCA (cryodrgn analyze)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~4-6 distinguishable density lobes;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PC1=0.34, PC2=0.28 (more structured than J1442!)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Ablated classes (NBD-less) visible as side-lobes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943600"/>
            <a:ext cx="7040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RIGHT: K=9 class-coloured scatter (cryodrgn landscape analysis)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SC/AC/AO core states (blue tones) in centre; portal &amp; ablated spread outward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Free energy: F(PC1) = ONE well (continuous) → careful: clusters are POSITIONS,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not energetically isolated states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3408"/>
            <a:ext cx="11795760" cy="128016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702552"/>
            <a:ext cx="1152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More training (currently at 50 ep, paper standard = 50) + ablated-class-excluded retraining may further resolve sub-clusters → ongoing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Synthesis: What We've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Two independent methods converge on the same picture of CFTR's conformational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3A"/>
                </a:solidFill>
              </a:rPr>
              <a:t>✓  Confirmed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CFTR + Trikafta exists in 3 core conformational states (P6/P7/P8)</a:t>
            </a:r>
          </a:p>
          <a:p>
            <a:r>
              <a:rPr sz="1400" b="0">
                <a:solidFill>
                  <a:srgbClr val="404040"/>
                </a:solidFill>
              </a:rPr>
              <a:t>    • CryoSPARC reference-based: finds these with high map resolution</a:t>
            </a:r>
          </a:p>
          <a:p>
            <a:r>
              <a:rPr sz="1400" b="0">
                <a:solidFill>
                  <a:srgbClr val="404040"/>
                </a:solidFill>
              </a:rPr>
              <a:t>    • CryoDRGN reference-free: finds the SAME 3, independently (min sep 2.60 SD)</a:t>
            </a:r>
          </a:p>
          <a:p>
            <a:r>
              <a:rPr sz="1400" b="0">
                <a:solidFill>
                  <a:srgbClr val="404040"/>
                </a:solidFill>
              </a:rPr>
              <a:t>    • Population fractions reproducible: ~37% P6, ~29% P7, ~34% P8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5A11"/>
                </a:solidFill>
              </a:rPr>
              <a:t>⚠  Honest caveats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States are POSITIONS on a continuous landscape, not fully discrete snapshots</a:t>
            </a:r>
          </a:p>
          <a:p>
            <a:r>
              <a:rPr sz="1600" b="0">
                <a:solidFill>
                  <a:srgbClr val="404040"/>
                </a:solidFill>
              </a:rPr>
              <a:t>▸ CryoSPARC posteriors are near-uniform after debiasing — classes genuinely overlap</a:t>
            </a:r>
          </a:p>
          <a:p>
            <a:r>
              <a:rPr sz="1600" b="0">
                <a:solidFill>
                  <a:srgbClr val="404040"/>
                </a:solidFill>
              </a:rPr>
              <a:t>▸ 5th/extra states (P9/P10) not resolvable by the neural network alone</a:t>
            </a:r>
          </a:p>
          <a:p>
            <a:r>
              <a:rPr sz="1600" b="0">
                <a:solidFill>
                  <a:srgbClr val="404040"/>
                </a:solidFill>
              </a:rPr>
              <a:t>▸ J264's 9-class structure is partly continuous — more work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94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C"/>
                </a:solidFill>
              </a:rPr>
              <a:t>→  What this means for CFTR biology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6072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</a:rPr>
              <a:t>▸ The drug-bound protein explores multiple conformations — dynamic, not static</a:t>
            </a:r>
          </a:p>
          <a:p>
            <a:r>
              <a:rPr sz="1600" b="0">
                <a:solidFill>
                  <a:srgbClr val="404040"/>
                </a:solidFill>
              </a:rPr>
              <a:t>▸ The most distinct states differ in NBD positioning/disorder and exit portal structure</a:t>
            </a:r>
          </a:p>
          <a:p>
            <a:r>
              <a:rPr sz="1600" b="0">
                <a:solidFill>
                  <a:srgbClr val="404040"/>
                </a:solidFill>
              </a:rPr>
              <a:t>▸ Structural differences are real and localized (density diagnostics confirm)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ACCFF"/>
                </a:solidFill>
              </a:rPr>
              <a:t>What was done: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Built a GMM pipeline to quantify true uncertainty in CryoSPARC class assignments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Trained and analyzed cryoDRGN on two CFTR datasets (J1442, J264) using D=256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Established a cross-method validation framework (CryoSPARC ↔ cryoDRGN)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Designed automated free-energy basin analysis and cluster export to .cs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ACCFF"/>
                </a:solidFill>
              </a:rPr>
              <a:t>Next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▸ Run cryoDRGN analyze on all D=256 models (GPU on Hudson) → UMAP + volume traversals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▸ Focused/masked 3D classification targeting NBD1/NBD2 regions to separate P9/P10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▸ Export cryoDRGN cluster particle sets → NU-refinement in CryoSPARC → new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▸ J264: exclude ablated particles, retrain, test if 3 core CFTR states emerge cleanly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▸ 3DFlex / 3DVA: model continuous motion along the CFTR conformational coordinate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solidFill>
            <a:srgbClr val="0E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BBFF"/>
                </a:solidFill>
              </a:rPr>
              <a:t>Code: github.com/minouemmad/cryoem-classification  |  Methods: CryoSPARC + cryoDRGN + custom GMM pipeline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