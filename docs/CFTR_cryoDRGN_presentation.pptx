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 (Title)</a:t>
            </a:r>
          </a:p>
          <a:p>
            <a:r>
              <a:t>Good [morning/afternoon]. Today I'll walk you through my work on CFTR — a protein that, when broken, causes cystic fibrosis — and how I've been using electron microscopy and machine learning to map the different shapes this protein adopts when treated with new drugs.</a:t>
            </a:r>
          </a:p>
          <a:p/>
          <a:p>
            <a:r>
              <a:t>The talk is about 12 minutes. I'll start with the biology (no background required), explain the two methods, and end with what we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2 (CFTR Biology)</a:t>
            </a:r>
          </a:p>
          <a:p>
            <a:r>
              <a:t>Think of CFTR as a tiny sliding door in the wall of your lung cells. When it opens, chloride flows out and water follows, keeping mucus thin.</a:t>
            </a:r>
          </a:p>
          <a:p/>
          <a:p>
            <a:r>
              <a:t>In CF, this door is either broken or gets misfolded (like crumpled origami) and destroyed before reaching the cell surface. The corrector drugs help it fold correctly; the potentiator keeps it open.</a:t>
            </a:r>
          </a:p>
          <a:p/>
          <a:p>
            <a:r>
              <a:t>These drugs have been transformative — but we still don't fully know the atomic-level shapes CFTR adopts with them, which is what this work aims to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3 (CFTR Structure)</a:t>
            </a:r>
          </a:p>
          <a:p>
            <a:r>
              <a:t>The domains are like rooms in a machine: NBD1 and NBD2 are the engines that hydrolyze ATP; TMD1 and TMD2 form the actual pore; the R-domain is a safety lock; the lasso motif anchors the top.</a:t>
            </a:r>
          </a:p>
          <a:p/>
          <a:p>
            <a:r>
              <a:t>The ΔF508 deletion (one amino acid missing from NBD1) causes the engine to crumple, and the quality-control machinery in the cell destroys it before it reaches the surface.</a:t>
            </a:r>
          </a:p>
          <a:p/>
          <a:p>
            <a:r>
              <a:t>The color key numbers in Figure 8 of the Flatiron poster (P6–P14) tell you which CFTR conformational state is being shown. For example, "P8 (VshapedMix)" is a class where the NBD1 domain has reduced density and the protein adopts a characteristic V-shape; "P10" shows an alternative NBD1 arrangement called the Ardecon composite.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4 (CryoEM Methodology)</a:t>
            </a:r>
          </a:p>
          <a:p>
            <a:r>
              <a:t>CryoEM works like this: we purify CFTR, add the drugs, then mix it with lipid nanodiscs (tiny artificial membrane patches that keep the protein stable). We then plunge-freeze a droplet at -170°C so fast that water doesn't form ice crystals — it forms a glass that traps each protein in whatever shape it was in at that instant.</a:t>
            </a:r>
          </a:p>
          <a:p/>
          <a:p>
            <a:r>
              <a:t>The electron microscope shoots a beam of electrons through this frozen grid and collects images. Each image shows one protein particle, but they're tiny and embedded in noise — the signal-to-noise ratio is about 0.1, meaning the background is 10× stronger than the protein signal.</a:t>
            </a:r>
          </a:p>
          <a:p/>
          <a:p>
            <a:r>
              <a:t>The three panels from the mechanism paper (Figure 6) show:</a:t>
            </a:r>
          </a:p>
          <a:p>
            <a:r>
              <a:t>- Panel A: CFTR with just the correctors (no potentiator). The protein folds correctly but the channel is closed. The 2D class averages (the noisy ring-shaped images) are averaged and aligned to give the 3D reconstruction shown to the right.</a:t>
            </a:r>
          </a:p>
          <a:p>
            <a:r>
              <a:t>- Panel B: CFTR with all three drugs. The channel is in the primed-open conformation. You can actually see density for the drug molecules in the binding pockets.</a:t>
            </a:r>
          </a:p>
          <a:p>
            <a:r>
              <a:t>- Panel C: A comparison between the two states — highlighting exactly which domains moved when the potentiator was added.</a:t>
            </a:r>
          </a:p>
          <a:p/>
          <a:p>
            <a:r>
              <a:t>This is what drives the biological question: if we can see how the drug changes the structure, we understand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5 (Classification Challenge)</a:t>
            </a:r>
          </a:p>
          <a:p>
            <a:r>
              <a:t>Here's the core problem. If we just average all 100,000 images together, we'd get a blurry mess — like photographing a running person with a long exposure.</a:t>
            </a:r>
          </a:p>
          <a:p/>
          <a:p>
            <a:r>
              <a:t>Instead we want to SORT the particles: group the images that show similar shapes, then reconstruct each group separately.</a:t>
            </a:r>
          </a:p>
          <a:p/>
          <a:p>
            <a:r>
              <a:t>For CFTR with Trikafta, CryoSPARC found 3 to 9 groups depending on the experiment. The scientific question is whether these are real structural states or artifacts of the algorithm.</a:t>
            </a:r>
          </a:p>
          <a:p/>
          <a:p>
            <a:r>
              <a:t>My approach: use cryoDRGN as an independent check. CryoSPARC needs reference maps and uses iterative refinement; cryoDRGN uses no references and learns purely from the images. If both find the same answer, that's strong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6 (CryoSPARC Bias)</a:t>
            </a:r>
          </a:p>
          <a:p>
            <a:r>
              <a:t>CryoSPARC's algorithm works in cycles: start with reference maps, assign particles to best-matching maps (E-step), rebuild the maps from those assignments (M-step), repeat. After 50-100 cycles, it converges.</a:t>
            </a:r>
          </a:p>
          <a:p/>
          <a:p>
            <a:r>
              <a:t>The problem: in 2009, researchers showed that even pure noise images will "find" a reference if you run this iterative process long enough. The algorithm amplifies any hint of signal, eventually driving every particle to 100% confidence in one class.</a:t>
            </a:r>
          </a:p>
          <a:p/>
          <a:p>
            <a:r>
              <a:t>For J1442, we used a specially designed approach to avoid this:</a:t>
            </a:r>
          </a:p>
          <a:p>
            <a:r>
              <a:t>- Take J1069's final converged volumes (the best maps we have)</a:t>
            </a:r>
          </a:p>
          <a:p>
            <a:r>
              <a:t>- Run just ONE E-step — just compute "how likely is each particle under each map?"</a:t>
            </a:r>
          </a:p>
          <a:p>
            <a:r>
              <a:t>- With learning rate = 0 — the maps don't update at all</a:t>
            </a:r>
          </a:p>
          <a:p>
            <a:r>
              <a:t>- This gives the honest, unbiased probability before iterative refinement amplifies it</a:t>
            </a:r>
          </a:p>
          <a:p/>
          <a:p>
            <a:r>
              <a:t>The result: the mean max-posterior drops from 99.2% (biased) to 36.2% (debiased) — almost exactly 1/3 for three classes. This tells us: in the honest picture, most particles are genuinely ambiguous between the three states.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7 (GMM + Scatter + Confusion)</a:t>
            </a:r>
          </a:p>
          <a:p>
            <a:r>
              <a:t>These two panels together tell the full story of what CryoSPARC's honest posteriors look like.</a:t>
            </a:r>
          </a:p>
          <a:p/>
          <a:p>
            <a:r>
              <a:t>LEFT: Each of the three scatter plots compares two classes. Each dot is one CFTR particle. The x-axis is CryoSPARC's probability for one class, the y-axis for another.</a:t>
            </a:r>
          </a:p>
          <a:p/>
          <a:p>
            <a:r>
              <a:t>IMPORTANT — and I want to be clear about this: there IS real class signal here. You can see that P6 particles (one color) lean toward the right in the P6 vs P7 panel — they have higher P6 probability than average. The same is true for P8. This is NOT random — the diagonal of the confusion matrix confirms this (0.40, 0.31, 0.38 are all above the 0.33 random baseline).</a:t>
            </a:r>
          </a:p>
          <a:p/>
          <a:p>
            <a:r>
              <a:t>BUT — much of the data is still near the center (0.33, 0.33), meaning many individual particles are genuinely ambiguous. These aren't particles where the algorithm is wrong — they're particles that truly sit between conformational states.</a:t>
            </a:r>
          </a:p>
          <a:p/>
          <a:p>
            <a:r>
              <a:t>RIGHT: The GMM equal-prior confusion matrix. This IS the direct output of the GMM model. Under an equal-prior decision rule (no weight bias) the diagonal is P6=0.87, P7=0.69, P8=0.59. "Equal-prior" means we ask: ignoring how many particles are in each class, if we sampled a new particle from each Gaussian component, how often would it be classified back to the right class? This measures pure Gaussian geometry. P7 and P8 each have ~30-40% confusion with other classes — confirming they're the most overlapping states — while P6 is the most distinct (87% self-assignment).</a:t>
            </a:r>
          </a:p>
          <a:p/>
          <a:p>
            <a:r>
              <a:t>The GMM pipeline fits Gaussian bell curves to these distributions. This lets us:</a:t>
            </a:r>
          </a:p>
          <a:p>
            <a:r>
              <a:t>- Compute soft class memberships (how likely each particle is in each cluster)</a:t>
            </a:r>
          </a:p>
          <a:p>
            <a:r>
              <a:t>- Bootstrap the populations to get error bars</a:t>
            </a:r>
          </a:p>
          <a:p>
            <a:r>
              <a:t>- Export high-confidence particle subsets</a:t>
            </a:r>
          </a:p>
          <a:p>
            <a:r>
              <a:t>- Quantify class overlap precisely</a:t>
            </a:r>
          </a:p>
          <a:p/>
          <a:p>
            <a:r>
              <a:t>The key message: the three classes are REAL but not cleanly separated at the per-particle level — they're positions on a continuum. This motivates the neural network approach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8 (CryoDRGN VAE)</a:t>
            </a:r>
          </a:p>
          <a:p>
            <a:r>
              <a:t>Now let me explain how cryoDRGN works. It's a type of neural network called a Variational Autoencoder.</a:t>
            </a:r>
          </a:p>
          <a:p/>
          <a:p>
            <a:r>
              <a:t>Think of it as four stages:</a:t>
            </a:r>
          </a:p>
          <a:p/>
          <a:p>
            <a:r>
              <a:t>STAGE 1 — INPUT: We feed it the raw particle images plus estimated orientations. This is everything we give it — no references, no class labels.</a:t>
            </a:r>
          </a:p>
          <a:p/>
          <a:p>
            <a:r>
              <a:t>STAGE 2 — ENCODER: A convolutional neural network (the same type that recognizes faces on your phone) compresses each 256×256 image into just 10 numbers: a mean (μ) and variance (σ²) in a 10-dimensional space.</a:t>
            </a:r>
          </a:p>
          <a:p/>
          <a:p>
            <a:r>
              <a:t>STAGE 3 — LATENT SPACE z: These 10 numbers are the "conformational GPS coordinate" of that particle. Similar-looking particles get similar coordinates; very different ones get very different coordinates. This is what we analyze.</a:t>
            </a:r>
          </a:p>
          <a:p/>
          <a:p>
            <a:r>
              <a:t>STAGE 4 — DECODER: A second network takes those 10 numbers and tries to reconstruct what the original image should look like. If reconstruction is good, the encoding captured the right information.</a:t>
            </a:r>
          </a:p>
          <a:p/>
          <a:p>
            <a:r>
              <a:t>The training objective balances two goals: reconstruct the image well (so the encoder captures the right information) and keep the latent space organized (so nearby points in z-space correspond to similar conformations).</a:t>
            </a:r>
          </a:p>
          <a:p/>
          <a:p>
            <a:r>
              <a:t>The GPS analogy is the key: after training, every CFTR particle has a unique address in 10-dimensional space. We use PCA to look at this space in 2 dimensions — like flattening a 10-dimensional globe onto a flat paper map.</a:t>
            </a:r>
          </a:p>
          <a:p/>
          <a:p>
            <a:r>
              <a:t>One caveat: the orientations we feed in come from CryoSPARC, so there's an indirect link. But since both methods find the same 3 states, this dependency doesn't explain our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9 (D=256: 3 Clear States)</a:t>
            </a:r>
          </a:p>
          <a:p>
            <a:r>
              <a:t>Remember the GPS analogy from the last slide. Here we're plotting where all 230,000 CFTR particles end up in that GPS map.</a:t>
            </a:r>
          </a:p>
          <a:p/>
          <a:p>
            <a:r>
              <a:t>LEFT: Three distinct blobs, with no guidance about how many to look for. The neural network discovered this structure by itself.</a:t>
            </a:r>
          </a:p>
          <a:p/>
          <a:p>
            <a:r>
              <a:t>CENTRE: When I fit a 3-component GMM (three Gaussian bells) to the full 10-dimensional space, the minimum separation is 2.60 standard deviations. Two SD is the threshold for genuine discreteness — these are clearly distinguishable in the full 10-D space.</a:t>
            </a:r>
          </a:p>
          <a:p/>
          <a:p>
            <a:r>
              <a:t>RIGHT: The confusion matrix in the top-right is the CROSS-METHOD agreement between CryoSPARC and cryoDRGN — NOT the latent GMM measuring itself. Each row is a CryoSPARC class; each column is what cryoDRGN's latent GMM assigned the same particle to. 81.2% of particles get the same label from both methods. That's the honest number — and it's meaningful: if the two methods were completely unrelated, you'd expect 33% agreement by random chance. Getting 81% from two algorithms with completely different assumptions is strong cross-validation.</a:t>
            </a:r>
          </a:p>
          <a:p/>
          <a:p>
            <a:r>
              <a:t>IMPORTANT: I'm NOT showing the latent GMM self-confusion (which was 0.97/0.96/0.99). That number is CIRCULAR — the GMM was fitted to the latent data and then evaluated on the same data. With 2.60 SD separation, the Gaussian likelihoods are nearly binary, so the GMM artificially gives near-perfect confidence to itself. That tells you nothing about whether the classes are real — it just confirms the GMM fit tightly. Comparing that 0.97/0.99 to CryoSPARC's honest 0.40/0.38 is an unfair comparison; I've replaced it with the cross-method agreement (81%) which is the honest metric.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10 (D=128: PC1 peaks + Basin)</a:t>
            </a:r>
          </a:p>
          <a:p>
            <a:r>
              <a:t>This slide shows complementary evidence from a lower-resolution version of the neural network — D=128 instead of D=256. The comparison reveals something scientifically interesting.</a:t>
            </a:r>
          </a:p>
          <a:p/>
          <a:p>
            <a:r>
              <a:t>LEFT: The PC1 density plot shows three clear, clean peaks — one per class. This is actually MORE visually obvious in the D=128 model than in D=256.</a:t>
            </a:r>
          </a:p>
          <a:p/>
          <a:p>
            <a:r>
              <a:t>RIGHT: The free-energy basin analysis. Think of this like a topographic map where altitude represents how UNLIKELY a conformation is. We compute the probability density of particles in the latent space, then take -log(probability) to convert to "free energy" in units of kT.</a:t>
            </a:r>
          </a:p>
          <a:p/>
          <a:p>
            <a:r>
              <a:t>Panel A shows the actual 2D surface with three clear valleys (low points = stable states = many particles).</a:t>
            </a:r>
          </a:p>
          <a:p>
            <a:r>
              <a:t>Panel B shows the "watershed" — drawing boundaries between basins by flood-filling from each valley.</a:t>
            </a:r>
          </a:p>
          <a:p>
            <a:r>
              <a:t>Panel C shows the occupancy: which CryoSPARC classes fall into which basin. It's block-diagonal — P6→Basin1, P7→Basin2, P8→Basin3 — meaning the free-energy basins match the CryoSPARC classes.</a:t>
            </a:r>
          </a:p>
          <a:p>
            <a:r>
              <a:t>Panel D shows that the 3-basin result is stable across a range of barrier thresholds — it's not an artifact of one specific threshold choice.</a:t>
            </a:r>
          </a:p>
          <a:p/>
          <a:p>
            <a:r>
              <a:t>Now, the interesting comparison: why does D=128 show clearer 3-peak separation in PC1, while D=256 (from the previous slide) shows better separation in the full 10-D GMM?</a:t>
            </a:r>
          </a:p>
          <a:p/>
          <a:p>
            <a:r>
              <a:t>The explanation: D=128 processes lower-resolution images, so it must compress everything into 10 numbers from less detailed input. The DOMINANT variation it can capture is the large-scale conformational differences — the major NBD rearrangements between states. This gets concentrated into PC1, giving clean visible peaks.</a:t>
            </a:r>
          </a:p>
          <a:p/>
          <a:p>
            <a:r>
              <a:t>D=256 processes higher-resolution images, capturing both the large-scale state differences AND fine structural details within each state. This distributes the variance across MORE dimensions — so no single PC captures all the 3-state signal. But the total 10-D GMM separation is BETTER (2.60 SD vs 1.82 SD for D=128), because the model has more information to work with.</a:t>
            </a:r>
          </a:p>
          <a:p/>
          <a:p>
            <a:r>
              <a:t>Analogy: a blurry photo vs a sharp photo. In the blurry one, the 3 major shapes (states) stand out clearly against each other. In the sharp one, you see all the details too — more information, but spread across more dimensions to use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11 (5-Class Challenge)</a:t>
            </a:r>
          </a:p>
          <a:p>
            <a:r>
              <a:t>CryoSPARC, when configured to find 5 classes, identifies P9 and P10 as additional states. The confusion matrix compares what CryoSPARC says (rows) versus what cryoDRGN says (columns).</a:t>
            </a:r>
          </a:p>
          <a:p/>
          <a:p>
            <a:r>
              <a:t>Key off-diagonal entries:</a:t>
            </a:r>
          </a:p>
          <a:p>
            <a:r>
              <a:t>- P9: 44% get sent to cryoDRGN's P8 cluster → in the neural network's view, P9 IS P8</a:t>
            </a:r>
          </a:p>
          <a:p>
            <a:r>
              <a:t>- P10: 49% get sent to cryoDRGN's P6 cluster → P10 IS P6</a:t>
            </a:r>
          </a:p>
          <a:p/>
          <a:p>
            <a:r>
              <a:t>When we try to fit 5 Gaussian components to the D=256 latent space, the minimum separation drops to 0.79 SD — well below the 2.0 threshold. There aren't 5 distinct regions in the latent space for 5 components.</a:t>
            </a:r>
          </a:p>
          <a:p/>
          <a:p>
            <a:r>
              <a:t>This is biologically interpretable: P9 and P10 are likely structural substates of P8 and P6. They probably differ only in whether one specific flexible loop (like the Lasso-Nter motif or ICL4) is ordered or disordered — a subtle peripheral change that doesn't alter the overall conformation enough for cryoDRGN's global latent space to separate.</a:t>
            </a:r>
          </a:p>
          <a:p/>
          <a:p>
            <a:r>
              <a:t>This is NOT a failure of the method — it tells us something real: P9 and P10 don't have their own energetic wells in the landscape. They're at the extremes of P8 and P6's distributions.</a:t>
            </a:r>
          </a:p>
          <a:p/>
          <a:p>
            <a:r>
              <a:t>The path to separating them: focused or masked classification — instead of classifying globally, focus just on the region of the protein where P9 differs from P8 (the NBD2 region), and run a K=2 classification there. This targeted approach may reveal the structural substate.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12 (J264: 9 Classes + K=6)</a:t>
            </a:r>
          </a:p>
          <a:p>
            <a:r>
              <a:t>Now the more complex dataset, J264, with 9 conformational groups and 301,000 particles.</a:t>
            </a:r>
          </a:p>
          <a:p/>
          <a:p>
            <a:r>
              <a:t>LEFT: The raw latent space is already more structured than J1442. PC1 explains 34% of variance, PC2 explains 28%. You can see 4-6 distinguishable density regions. The overall shape is elongated along PC1.</a:t>
            </a:r>
          </a:p>
          <a:p/>
          <a:p>
            <a:r>
              <a:t>CENTRE K=9: The nine classes correspond to the full range of CFTR conformations:</a:t>
            </a:r>
          </a:p>
          <a:p>
            <a:r>
              <a:t>- Blue: Symmetric Closed (SC), Asymmetric Closed (AC), Asymmetric Open (AO) — the core NBD trajectory from closed to open</a:t>
            </a:r>
          </a:p>
          <a:p>
            <a:r>
              <a:t>- Green: SEPD (Separated Exit Portal Domain), AEPD (Alternative Exit Portal) — portal-opening states</a:t>
            </a:r>
          </a:p>
          <a:p>
            <a:r>
              <a:t>- Red/grey: the ablated classes where domains are detached (NBD1-less, NBD2-less, etc.)</a:t>
            </a:r>
          </a:p>
          <a:p/>
          <a:p>
            <a:r>
              <a:t>The ablated classes form distinct side-lobes — those particles look very different from the intact protein, which is why they separate. The core SC/AC/AO states all overlap in the central region.</a:t>
            </a:r>
          </a:p>
          <a:p/>
          <a:p>
            <a:r>
              <a:t>RIGHT K=6: This is ongoing work. Instead of forcing all 9 classes, fitting 6 components better matches the 6 visible density lobes. This gives a more honest representation of what the model currently resolves. As training continues and we retrain excluding the ablated classes (which may be purification artifacts), the picture should sharpen.</a:t>
            </a:r>
          </a:p>
          <a:p/>
          <a:p>
            <a:r>
              <a:t>Important note: the free-energy analysis of J264 shows one continuous basin — no barriers between classes. The 9 CryoSPARC classes are positions along a continuous conformational trajectory, not 9 isolated structures. This is consistent with CFTR's biology — the protein is constantly flexing.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13 (Synthesis)</a:t>
            </a:r>
          </a:p>
          <a:p>
            <a:r>
              <a:t>Let me bring everything together.</a:t>
            </a:r>
          </a:p>
          <a:p/>
          <a:p>
            <a:r>
              <a:t>CONFIRMED: Three core CFTR conformational states, independently found by two methods. The populations are stable across experiments (about 37%/29%/34%). This reproducibility is the strongest evidence that these are real states.</a:t>
            </a:r>
          </a:p>
          <a:p/>
          <a:p>
            <a:r>
              <a:t>CAVEATS: These aren't three discrete protein sculptures in separate boxes. They're three preferred positions on a continuous conformational track — the protein moves between them in thermal motion. The free-energy barriers between states are shallow (1-2 kT in the D=128 model).</a:t>
            </a:r>
          </a:p>
          <a:p/>
          <a:p>
            <a:r>
              <a:t>The additional states P9 and P10 are real structural variants but not energetically distinct from P8 and P6.</a:t>
            </a:r>
          </a:p>
          <a:p/>
          <a:p>
            <a:r>
              <a:t>BIOLOGY: Drug-bound CFTR is a dynamic machine. The three states correspond to different NBD configurations: symmetric closed (SC), asymmetric closed (AC), and asymmetric open (AO) — mapping onto the functional states of the channel. Understanding which state is most populated and how populations shift with different conditions is directly relevant to drug efficacy.</a:t>
            </a:r>
          </a:p>
          <a:p/>
          <a:p>
            <a:r>
              <a:t>The two-method approach is important for scientific credibility. CryoSPARC uses reference maps, which introduces reference bias. CryoDRGN uses no references, but uses CryoSPARC pose estimates, which introduces an indirect dependency. By showing both find the same result, we cover both bases — the conclusion is robust to the specific bias of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14 (Conclusions)</a:t>
            </a:r>
          </a:p>
          <a:p>
            <a:r>
              <a:t>Let me close with what we've accomplished and where I'm going.</a:t>
            </a:r>
          </a:p>
          <a:p/>
          <a:p>
            <a:r>
              <a:t>The central result: CFTR with Trikafta adopts three distinct but interconverting conformational states. Two completely different algorithms — CryoSPARC with reference maps and iterative refinement, and cryoDRGN with no references and a neural network — both find the same answer. This cross-validation makes the result robust to the specific biases of either method.</a:t>
            </a:r>
          </a:p>
          <a:p/>
          <a:p>
            <a:r>
              <a:t>The population fractions (~37%/29%/34%) are reproducible across D=128 and D=256 models, and across CryoSPARC's posteriors and cryoDRGN's latent GMM. Stable populations are a strong signal of a real biological result.</a:t>
            </a:r>
          </a:p>
          <a:p/>
          <a:p>
            <a:r>
              <a:t>For next steps: the most immediate is running cryodrgn analyze on the GPU cluster, which generates actual volume reconstructions at different positions in the latent space — letting us see WHAT conformation lives at each location.</a:t>
            </a:r>
          </a:p>
          <a:p/>
          <a:p>
            <a:r>
              <a:t>The focused classification experiment is the most scientifically interesting next step: can we separate P9 from P8 and P10 from P6 by running a targeted second-round classification focused on just the domain regions where they're expected to differ?</a:t>
            </a:r>
          </a:p>
          <a:p/>
          <a:p>
            <a:r>
              <a:t>The key open question: do the conformational populations change with different conditions? If P8 (VshapedMix) becomes more populated at higher drug concentrations, that directly tells you which conformation the drug stabilizes. That's where the landscape approach — quantifying populations, not just finding states — becomes directly clinically relevant.</a:t>
            </a:r>
          </a:p>
          <a:p/>
          <a:p>
            <a:r>
              <a:t>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A6C"/>
        </a:solidFill>
        <a:effectLst/>
      </p:bgPr>
    </p:bg>
    <p:spTree>
      <p:nvGrpSpPr>
        <p:cNvPr id="1" name=""/>
        <p:cNvGrpSpPr/>
        <p:nvPr/>
      </p:nvGrpSpPr>
      <p:grpSpPr/>
      <p:sp>
        <p:nvSpPr>
          <p:cNvPr id="2" name="Rectangle 1"/>
          <p:cNvSpPr/>
          <p:nvPr/>
        </p:nvSpPr>
        <p:spPr>
          <a:xfrm>
            <a:off x="274320" y="274320"/>
            <a:ext cx="11640312" cy="4023360"/>
          </a:xfrm>
          <a:prstGeom prst="rect">
            <a:avLst/>
          </a:prstGeom>
          <a:solidFill>
            <a:srgbClr val="0E2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57200"/>
            <a:ext cx="11155680" cy="1920240"/>
          </a:xfrm>
          <a:prstGeom prst="rect">
            <a:avLst/>
          </a:prstGeom>
          <a:noFill/>
        </p:spPr>
        <p:txBody>
          <a:bodyPr wrap="square">
            <a:spAutoFit/>
          </a:bodyPr>
          <a:lstStyle/>
          <a:p>
            <a:pPr algn="ctr"/>
            <a:r>
              <a:rPr sz="3300" b="1" i="0">
                <a:solidFill>
                  <a:srgbClr val="FFFFFF"/>
                </a:solidFill>
              </a:rPr>
              <a:t>Conformational Heterogeneity of CFTR Under Drug Treatment</a:t>
            </a:r>
          </a:p>
        </p:txBody>
      </p:sp>
      <p:sp>
        <p:nvSpPr>
          <p:cNvPr id="4" name="TextBox 3"/>
          <p:cNvSpPr txBox="1"/>
          <p:nvPr/>
        </p:nvSpPr>
        <p:spPr>
          <a:xfrm>
            <a:off x="502920" y="2468880"/>
            <a:ext cx="11155680" cy="594360"/>
          </a:xfrm>
          <a:prstGeom prst="rect">
            <a:avLst/>
          </a:prstGeom>
          <a:noFill/>
        </p:spPr>
        <p:txBody>
          <a:bodyPr wrap="square">
            <a:spAutoFit/>
          </a:bodyPr>
          <a:lstStyle/>
          <a:p>
            <a:pPr algn="ctr"/>
            <a:r>
              <a:rPr sz="2200" b="0" i="1">
                <a:solidFill>
                  <a:srgbClr val="AACCFF"/>
                </a:solidFill>
              </a:rPr>
              <a:t>A Hybrid CryoEM + Deep Learning Pipeline</a:t>
            </a:r>
          </a:p>
        </p:txBody>
      </p:sp>
      <p:sp>
        <p:nvSpPr>
          <p:cNvPr id="5" name="TextBox 4"/>
          <p:cNvSpPr txBox="1"/>
          <p:nvPr/>
        </p:nvSpPr>
        <p:spPr>
          <a:xfrm>
            <a:off x="502920" y="3154680"/>
            <a:ext cx="11155680" cy="457200"/>
          </a:xfrm>
          <a:prstGeom prst="rect">
            <a:avLst/>
          </a:prstGeom>
          <a:noFill/>
        </p:spPr>
        <p:txBody>
          <a:bodyPr wrap="square">
            <a:spAutoFit/>
          </a:bodyPr>
          <a:lstStyle/>
          <a:p>
            <a:pPr algn="ctr"/>
            <a:r>
              <a:rPr sz="1600" b="0" i="0">
                <a:solidFill>
                  <a:srgbClr val="CCCCFF"/>
                </a:solidFill>
              </a:rPr>
              <a:t>Minou Emamian  |  Hunt Lab  |  2026</a:t>
            </a:r>
          </a:p>
        </p:txBody>
      </p:sp>
      <p:sp>
        <p:nvSpPr>
          <p:cNvPr id="6" name="Rectangle 5"/>
          <p:cNvSpPr/>
          <p:nvPr/>
        </p:nvSpPr>
        <p:spPr>
          <a:xfrm>
            <a:off x="1371600" y="4160520"/>
            <a:ext cx="9445752" cy="54864"/>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343400"/>
            <a:ext cx="11155680" cy="411480"/>
          </a:xfrm>
          <a:prstGeom prst="rect">
            <a:avLst/>
          </a:prstGeom>
          <a:noFill/>
        </p:spPr>
        <p:txBody>
          <a:bodyPr wrap="square">
            <a:spAutoFit/>
          </a:bodyPr>
          <a:lstStyle/>
          <a:p>
            <a:pPr algn="ctr"/>
            <a:r>
              <a:rPr sz="1300" b="0" i="0">
                <a:solidFill>
                  <a:srgbClr val="99BBFF"/>
                </a:solidFill>
              </a:rPr>
              <a:t>Methods: CryoSPARC · Gaussian Mixture Models · cryoDRGN Neural Network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What is CFTR? Why Does It Matter?</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The biology behind cystic fibrosis</a:t>
            </a:r>
          </a:p>
        </p:txBody>
      </p:sp>
      <p:sp>
        <p:nvSpPr>
          <p:cNvPr id="5" name="TextBox 4"/>
          <p:cNvSpPr txBox="1"/>
          <p:nvPr/>
        </p:nvSpPr>
        <p:spPr>
          <a:xfrm>
            <a:off x="365760" y="1051560"/>
            <a:ext cx="11430000" cy="5303520"/>
          </a:xfrm>
          <a:prstGeom prst="rect">
            <a:avLst/>
          </a:prstGeom>
          <a:noFill/>
        </p:spPr>
        <p:txBody>
          <a:bodyPr wrap="square">
            <a:spAutoFit/>
          </a:bodyPr>
          <a:lstStyle/>
          <a:p>
            <a:r>
              <a:rPr sz="1600">
                <a:solidFill>
                  <a:srgbClr val="404040"/>
                </a:solidFill>
              </a:rPr>
              <a:t>▸ CFTR = Cystic Fibrosis Transmembrane conductance Regulator</a:t>
            </a:r>
          </a:p>
          <a:p>
            <a:r>
              <a:rPr sz="1500">
                <a:solidFill>
                  <a:srgbClr val="404040"/>
                </a:solidFill>
              </a:rPr>
              <a:t>      • A channel protein embedded in the walls of lung and gut cells</a:t>
            </a:r>
          </a:p>
          <a:p>
            <a:r>
              <a:rPr sz="1500">
                <a:solidFill>
                  <a:srgbClr val="404040"/>
                </a:solidFill>
              </a:rPr>
              <a:t>      • Job: pump chloride ions (Cl⁻) OUT of the cell → water follows → mucus stays thin</a:t>
            </a:r>
          </a:p>
          <a:p>
            <a:r>
              <a:rPr sz="1600">
                <a:solidFill>
                  <a:srgbClr val="404040"/>
                </a:solidFill>
              </a:rPr>
              <a:t>▸ Cystic Fibrosis (CF): CFTR is broken or never reaches the cell surface</a:t>
            </a:r>
          </a:p>
          <a:p>
            <a:r>
              <a:rPr sz="1500">
                <a:solidFill>
                  <a:srgbClr val="404040"/>
                </a:solidFill>
              </a:rPr>
              <a:t>      • Thick, sticky mucus in lungs/pancreas/liver → repeated infections</a:t>
            </a:r>
          </a:p>
          <a:p>
            <a:r>
              <a:rPr sz="1500">
                <a:solidFill>
                  <a:srgbClr val="404040"/>
                </a:solidFill>
              </a:rPr>
              <a:t>      • ~40,000 people in the US; historically fatal in childhood</a:t>
            </a:r>
          </a:p>
          <a:p>
            <a:r>
              <a:rPr sz="1600">
                <a:solidFill>
                  <a:srgbClr val="404040"/>
                </a:solidFill>
              </a:rPr>
              <a:t>▸ Breakthrough drugs — Trikafta (elexacaftor + tezacaftor + ivacaftor):</a:t>
            </a:r>
          </a:p>
          <a:p>
            <a:r>
              <a:rPr sz="1500">
                <a:solidFill>
                  <a:srgbClr val="404040"/>
                </a:solidFill>
              </a:rPr>
              <a:t>      • CORRECTORS: help misfolded CFTR fold correctly and reach the cell surface</a:t>
            </a:r>
          </a:p>
          <a:p>
            <a:r>
              <a:rPr sz="1500">
                <a:solidFill>
                  <a:srgbClr val="404040"/>
                </a:solidFill>
              </a:rPr>
              <a:t>      • POTENTIATOR (ivacaftor): keeps the channel gate open once it gets there</a:t>
            </a:r>
          </a:p>
          <a:p>
            <a:r>
              <a:rPr sz="1500">
                <a:solidFill>
                  <a:srgbClr val="404040"/>
                </a:solidFill>
              </a:rPr>
              <a:t>      • Transformed CF for ~90% of patients — life expectancy now 50+ years</a:t>
            </a:r>
          </a:p>
          <a:p>
            <a:r>
              <a:rPr sz="1600">
                <a:solidFill>
                  <a:srgbClr val="404040"/>
                </a:solidFill>
              </a:rPr>
              <a:t>▸ Open question: what exact SHAPE does CFTR adopt with these drugs?</a:t>
            </a:r>
          </a:p>
          <a:p>
            <a:r>
              <a:rPr sz="1500">
                <a:solidFill>
                  <a:srgbClr val="404040"/>
                </a:solidFill>
              </a:rPr>
              <a:t>      • → This work: use cryo-EM + machine learning to map those conformations</a:t>
            </a:r>
          </a:p>
        </p:txBody>
      </p:sp>
      <p:sp>
        <p:nvSpPr>
          <p:cNvPr id="6" name="Rectangle 5"/>
          <p:cNvSpPr/>
          <p:nvPr/>
        </p:nvSpPr>
        <p:spPr>
          <a:xfrm>
            <a:off x="274320" y="6400800"/>
            <a:ext cx="11612880" cy="347472"/>
          </a:xfrm>
          <a:prstGeom prst="rect">
            <a:avLst/>
          </a:prstGeom>
          <a:solidFill>
            <a:srgbClr val="E0F0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11338560" cy="274320"/>
          </a:xfrm>
          <a:prstGeom prst="rect">
            <a:avLst/>
          </a:prstGeom>
          <a:noFill/>
        </p:spPr>
        <p:txBody>
          <a:bodyPr wrap="square">
            <a:spAutoFit/>
          </a:bodyPr>
          <a:lstStyle/>
          <a:p>
            <a:pPr algn="l"/>
            <a:r>
              <a:rPr sz="1300" b="1" i="0">
                <a:solidFill>
                  <a:srgbClr val="1A3A6C"/>
                </a:solidFill>
              </a:rPr>
              <a:t>Drugs work — but understanding HOW at atomic detail guides next-generation drug design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CFTR's Modular Architecture &amp; Drug Binding Sites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From Flatiron Poster Figure 8 — domain coloring explained below</a:t>
            </a:r>
          </a:p>
        </p:txBody>
      </p:sp>
      <p:sp>
        <p:nvSpPr>
          <p:cNvPr id="5" name="TextBox 4"/>
          <p:cNvSpPr txBox="1"/>
          <p:nvPr/>
        </p:nvSpPr>
        <p:spPr>
          <a:xfrm>
            <a:off x="365760" y="1051560"/>
            <a:ext cx="6492240" cy="5120640"/>
          </a:xfrm>
          <a:prstGeom prst="rect">
            <a:avLst/>
          </a:prstGeom>
          <a:noFill/>
        </p:spPr>
        <p:txBody>
          <a:bodyPr wrap="square">
            <a:spAutoFit/>
          </a:bodyPr>
          <a:lstStyle/>
          <a:p>
            <a:r>
              <a:rPr sz="1500">
                <a:solidFill>
                  <a:srgbClr val="404040"/>
                </a:solidFill>
              </a:rPr>
              <a:t>▸ CFTR is built from several structural domains (like rooms in a machine):</a:t>
            </a:r>
          </a:p>
          <a:p>
            <a:r>
              <a:rPr sz="1400">
                <a:solidFill>
                  <a:srgbClr val="404040"/>
                </a:solidFill>
              </a:rPr>
              <a:t>      • NBD1 / NBD2 — Nucleotide Binding Domains: the 'engines'; bind ATP to open/close</a:t>
            </a:r>
          </a:p>
          <a:p>
            <a:r>
              <a:rPr sz="1400">
                <a:solidFill>
                  <a:srgbClr val="404040"/>
                </a:solidFill>
              </a:rPr>
              <a:t>      • TMD1 / TMD2 — Transmembrane Domains: 12 helices forming the pore through the membrane</a:t>
            </a:r>
          </a:p>
          <a:p>
            <a:r>
              <a:rPr sz="1400">
                <a:solidFill>
                  <a:srgbClr val="404040"/>
                </a:solidFill>
              </a:rPr>
              <a:t>      • R-domain — Regulatory: must be phosphorylated (activated) before channel opens</a:t>
            </a:r>
          </a:p>
          <a:p>
            <a:r>
              <a:rPr sz="1400">
                <a:solidFill>
                  <a:srgbClr val="404040"/>
                </a:solidFill>
              </a:rPr>
              <a:t>      • Lasso motif / N-terminus — structural anchor at the top of the protein</a:t>
            </a:r>
          </a:p>
          <a:p>
            <a:r>
              <a:rPr sz="1400">
                <a:solidFill>
                  <a:srgbClr val="404040"/>
                </a:solidFill>
              </a:rPr>
              <a:t>      • ICL1–ICL4 — Intracellular loops connecting membrane helices to NBDs</a:t>
            </a:r>
          </a:p>
          <a:p>
            <a:r>
              <a:rPr sz="1500">
                <a:solidFill>
                  <a:srgbClr val="404040"/>
                </a:solidFill>
              </a:rPr>
              <a:t>▸ Most common mutation: ΔF508 — single amino acid deletion in NBD1</a:t>
            </a:r>
          </a:p>
          <a:p>
            <a:r>
              <a:rPr sz="1400">
                <a:solidFill>
                  <a:srgbClr val="404040"/>
                </a:solidFill>
              </a:rPr>
              <a:t>      • NBD1 crumples → whole protein degraded before reaching the membrane</a:t>
            </a:r>
          </a:p>
          <a:p>
            <a:r>
              <a:rPr sz="1500">
                <a:solidFill>
                  <a:srgbClr val="404040"/>
                </a:solidFill>
              </a:rPr>
              <a:t>▸ Drug binding sites (confirmed by cryo-EM and biochemistry):</a:t>
            </a:r>
          </a:p>
          <a:p>
            <a:r>
              <a:rPr sz="1400">
                <a:solidFill>
                  <a:srgbClr val="404040"/>
                </a:solidFill>
              </a:rPr>
              <a:t>      • Elexacaftor + tezacaftor: NBD1–TMD2 interface (stabilize the fold)</a:t>
            </a:r>
          </a:p>
          <a:p>
            <a:r>
              <a:rPr sz="1400">
                <a:solidFill>
                  <a:srgbClr val="404040"/>
                </a:solidFill>
              </a:rPr>
              <a:t>      • Ivacaftor: inside the pore (keeps the gate open)</a:t>
            </a:r>
          </a:p>
        </p:txBody>
      </p:sp>
      <p:sp>
        <p:nvSpPr>
          <p:cNvPr id="6" name="Rectangle 5"/>
          <p:cNvSpPr/>
          <p:nvPr/>
        </p:nvSpPr>
        <p:spPr>
          <a:xfrm>
            <a:off x="7040880" y="1051560"/>
            <a:ext cx="4937760" cy="3931920"/>
          </a:xfrm>
          <a:prstGeom prst="rect">
            <a:avLst/>
          </a:prstGeom>
          <a:solidFill>
            <a:srgbClr val="F0F0F0"/>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0" y="1097280"/>
            <a:ext cx="4754880" cy="274320"/>
          </a:xfrm>
          <a:prstGeom prst="rect">
            <a:avLst/>
          </a:prstGeom>
          <a:noFill/>
        </p:spPr>
        <p:txBody>
          <a:bodyPr wrap="square">
            <a:spAutoFit/>
          </a:bodyPr>
          <a:lstStyle/>
          <a:p>
            <a:pPr algn="l"/>
            <a:r>
              <a:rPr sz="1000" b="1" i="0">
                <a:solidFill>
                  <a:srgbClr val="1A3A6C"/>
                </a:solidFill>
              </a:rPr>
              <a:t>[ CFTR 3D structure — Flatiron Poster Figure 8 ]</a:t>
            </a:r>
          </a:p>
        </p:txBody>
      </p:sp>
      <p:sp>
        <p:nvSpPr>
          <p:cNvPr id="8" name="Rectangle 7"/>
          <p:cNvSpPr/>
          <p:nvPr/>
        </p:nvSpPr>
        <p:spPr>
          <a:xfrm>
            <a:off x="7040880" y="3154680"/>
            <a:ext cx="4937760" cy="201168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14032" y="3200400"/>
            <a:ext cx="4791456" cy="1920240"/>
          </a:xfrm>
          <a:prstGeom prst="rect">
            <a:avLst/>
          </a:prstGeom>
          <a:noFill/>
        </p:spPr>
        <p:txBody>
          <a:bodyPr wrap="square">
            <a:spAutoFit/>
          </a:bodyPr>
          <a:lstStyle/>
          <a:p>
            <a:pPr algn="l"/>
            <a:r>
              <a:rPr sz="1000" b="0" i="1">
                <a:solidFill>
                  <a:srgbClr val="404040"/>
                </a:solidFill>
              </a:rPr>
              <a:t>Domain colour key (Flatiron Poster Fig. 8):</a:t>
            </a:r>
          </a:p>
          <a:p>
            <a:pPr algn="l"/>
            <a:r>
              <a:rPr sz="1000" b="0" i="1">
                <a:solidFill>
                  <a:srgbClr val="404040"/>
                </a:solidFill>
              </a:rPr>
              <a:t>  BLUE = NBD1 (~residues 390–670, ΔF508 mutation site)</a:t>
            </a:r>
          </a:p>
          <a:p>
            <a:pPr algn="l"/>
            <a:r>
              <a:rPr sz="1000" b="0" i="1">
                <a:solidFill>
                  <a:srgbClr val="404040"/>
                </a:solidFill>
              </a:rPr>
              <a:t>  GREEN = NBD2 (~residues 1210–1480, second motor)</a:t>
            </a:r>
          </a:p>
          <a:p>
            <a:pPr algn="l"/>
            <a:r>
              <a:rPr sz="1000" b="0" i="1">
                <a:solidFill>
                  <a:srgbClr val="404040"/>
                </a:solidFill>
              </a:rPr>
              <a:t>  ORANGE = TMD1 (helices 1–6, first pore half)</a:t>
            </a:r>
          </a:p>
          <a:p>
            <a:pPr algn="l"/>
            <a:r>
              <a:rPr sz="1000" b="0" i="1">
                <a:solidFill>
                  <a:srgbClr val="404040"/>
                </a:solidFill>
              </a:rPr>
              <a:t>  PURPLE = TMD2 (helices 7–12, second pore half)</a:t>
            </a:r>
          </a:p>
          <a:p>
            <a:pPr algn="l"/>
            <a:r>
              <a:rPr sz="1000" b="0" i="1">
                <a:solidFill>
                  <a:srgbClr val="404040"/>
                </a:solidFill>
              </a:rPr>
              <a:t>  YELLOW = R-domain + ICL connectors (regulatory)</a:t>
            </a:r>
          </a:p>
          <a:p>
            <a:pPr algn="l"/>
            <a:r>
              <a:rPr sz="1000" b="0" i="1">
                <a:solidFill>
                  <a:srgbClr val="404040"/>
                </a:solidFill>
              </a:rPr>
              <a:t>  GREY = Lasso motif / N-terminus (structural anchor)</a:t>
            </a:r>
          </a:p>
          <a:p>
            <a:pPr algn="l"/>
            <a:r>
              <a:rPr sz="1000" b="0" i="1">
                <a:solidFill>
                  <a:srgbClr val="404040"/>
                </a:solidFill>
              </a:rPr>
              <a:t/>
            </a:r>
          </a:p>
          <a:p>
            <a:pPr algn="l"/>
            <a:r>
              <a:rPr sz="1000" b="0" i="1">
                <a:solidFill>
                  <a:srgbClr val="404040"/>
                </a:solidFill>
              </a:rPr>
              <a:t>Numbers in the key (e.g. 6–14) = conformational class</a:t>
            </a:r>
          </a:p>
          <a:p>
            <a:pPr algn="l"/>
            <a:r>
              <a:rPr sz="1000" b="0" i="1">
                <a:solidFill>
                  <a:srgbClr val="404040"/>
                </a:solidFill>
              </a:rPr>
              <a:t>labels from CryoSPARC. Each number identifies which</a:t>
            </a:r>
          </a:p>
          <a:p>
            <a:pPr algn="l"/>
            <a:r>
              <a:rPr sz="1000" b="0" i="1">
                <a:solidFill>
                  <a:srgbClr val="404040"/>
                </a:solidFill>
              </a:rPr>
              <a:t>class shows the depicted structural feature or</a:t>
            </a:r>
          </a:p>
          <a:p>
            <a:pPr algn="l"/>
            <a:r>
              <a:rPr sz="1000" b="0" i="1">
                <a:solidFill>
                  <a:srgbClr val="404040"/>
                </a:solidFill>
              </a:rPr>
              <a:t>domain arrangement. P6=NBD1LessMix, P8=Vshaped, etc.</a:t>
            </a:r>
          </a:p>
        </p:txBody>
      </p:sp>
      <p:sp>
        <p:nvSpPr>
          <p:cNvPr id="10" name="TextBox 9"/>
          <p:cNvSpPr txBox="1"/>
          <p:nvPr/>
        </p:nvSpPr>
        <p:spPr>
          <a:xfrm>
            <a:off x="365760" y="6172200"/>
            <a:ext cx="11430000" cy="347472"/>
          </a:xfrm>
          <a:prstGeom prst="rect">
            <a:avLst/>
          </a:prstGeom>
          <a:noFill/>
        </p:spPr>
        <p:txBody>
          <a:bodyPr wrap="square">
            <a:spAutoFit/>
          </a:bodyPr>
          <a:lstStyle/>
          <a:p>
            <a:pPr algn="l"/>
            <a:r>
              <a:rPr sz="1100" b="0" i="1">
                <a:solidFill>
                  <a:srgbClr val="2E75B6"/>
                </a:solidFill>
              </a:rPr>
              <a:t>Class names: P6=NBD1LessMix-Ablated | P7=NBD1LessWide-Ablated | P8=VshapedMix | P9=NBD2Less-Ablated | P10=AltNBD1-ArdeconComposite-Ablated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CryoEM: Photographing Individual Proteins at Near-Atomic Resolution</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How we image CFTR — panels adapted from Liu et al. Figure 6 (mechanism paper)</a:t>
            </a:r>
          </a:p>
        </p:txBody>
      </p:sp>
      <p:sp>
        <p:nvSpPr>
          <p:cNvPr id="5" name="Rectangle 4"/>
          <p:cNvSpPr/>
          <p:nvPr/>
        </p:nvSpPr>
        <p:spPr>
          <a:xfrm>
            <a:off x="274320" y="1115568"/>
            <a:ext cx="457200" cy="566928"/>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2" y="1207008"/>
            <a:ext cx="402336" cy="384048"/>
          </a:xfrm>
          <a:prstGeom prst="rect">
            <a:avLst/>
          </a:prstGeom>
          <a:noFill/>
        </p:spPr>
        <p:txBody>
          <a:bodyPr wrap="square">
            <a:spAutoFit/>
          </a:bodyPr>
          <a:lstStyle/>
          <a:p>
            <a:pPr algn="ctr"/>
            <a:r>
              <a:rPr sz="1800" b="1" i="0">
                <a:solidFill>
                  <a:srgbClr val="FFFFFF"/>
                </a:solidFill>
              </a:rPr>
              <a:t>1</a:t>
            </a:r>
          </a:p>
        </p:txBody>
      </p:sp>
      <p:sp>
        <p:nvSpPr>
          <p:cNvPr id="7" name="TextBox 6"/>
          <p:cNvSpPr txBox="1"/>
          <p:nvPr/>
        </p:nvSpPr>
        <p:spPr>
          <a:xfrm>
            <a:off x="850392" y="1207008"/>
            <a:ext cx="6309360" cy="475488"/>
          </a:xfrm>
          <a:prstGeom prst="rect">
            <a:avLst/>
          </a:prstGeom>
          <a:noFill/>
        </p:spPr>
        <p:txBody>
          <a:bodyPr wrap="square">
            <a:spAutoFit/>
          </a:bodyPr>
          <a:lstStyle/>
          <a:p>
            <a:pPr algn="l"/>
            <a:r>
              <a:rPr sz="1400" b="0" i="0">
                <a:solidFill>
                  <a:srgbClr val="404040"/>
                </a:solidFill>
              </a:rPr>
              <a:t>Purify CFTR protein; add Trikafta drug cocktail</a:t>
            </a:r>
          </a:p>
        </p:txBody>
      </p:sp>
      <p:sp>
        <p:nvSpPr>
          <p:cNvPr id="8" name="Rectangle 7"/>
          <p:cNvSpPr/>
          <p:nvPr/>
        </p:nvSpPr>
        <p:spPr>
          <a:xfrm>
            <a:off x="274320" y="1883664"/>
            <a:ext cx="457200" cy="56692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 y="1975104"/>
            <a:ext cx="402336" cy="384048"/>
          </a:xfrm>
          <a:prstGeom prst="rect">
            <a:avLst/>
          </a:prstGeom>
          <a:noFill/>
        </p:spPr>
        <p:txBody>
          <a:bodyPr wrap="square">
            <a:spAutoFit/>
          </a:bodyPr>
          <a:lstStyle/>
          <a:p>
            <a:pPr algn="ctr"/>
            <a:r>
              <a:rPr sz="1800" b="1" i="0">
                <a:solidFill>
                  <a:srgbClr val="FFFFFF"/>
                </a:solidFill>
              </a:rPr>
              <a:t>2</a:t>
            </a:r>
          </a:p>
        </p:txBody>
      </p:sp>
      <p:sp>
        <p:nvSpPr>
          <p:cNvPr id="10" name="TextBox 9"/>
          <p:cNvSpPr txBox="1"/>
          <p:nvPr/>
        </p:nvSpPr>
        <p:spPr>
          <a:xfrm>
            <a:off x="850392" y="1975104"/>
            <a:ext cx="6309360" cy="475488"/>
          </a:xfrm>
          <a:prstGeom prst="rect">
            <a:avLst/>
          </a:prstGeom>
          <a:noFill/>
        </p:spPr>
        <p:txBody>
          <a:bodyPr wrap="square">
            <a:spAutoFit/>
          </a:bodyPr>
          <a:lstStyle/>
          <a:p>
            <a:pPr algn="l"/>
            <a:r>
              <a:rPr sz="1400" b="0" i="0">
                <a:solidFill>
                  <a:srgbClr val="404040"/>
                </a:solidFill>
              </a:rPr>
              <a:t>Reconstitute in lipid nanodiscs (mimic cell membrane)</a:t>
            </a:r>
          </a:p>
        </p:txBody>
      </p:sp>
      <p:sp>
        <p:nvSpPr>
          <p:cNvPr id="11" name="Rectangle 10"/>
          <p:cNvSpPr/>
          <p:nvPr/>
        </p:nvSpPr>
        <p:spPr>
          <a:xfrm>
            <a:off x="274320" y="2651760"/>
            <a:ext cx="457200" cy="566928"/>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2" y="2743200"/>
            <a:ext cx="402336" cy="384048"/>
          </a:xfrm>
          <a:prstGeom prst="rect">
            <a:avLst/>
          </a:prstGeom>
          <a:noFill/>
        </p:spPr>
        <p:txBody>
          <a:bodyPr wrap="square">
            <a:spAutoFit/>
          </a:bodyPr>
          <a:lstStyle/>
          <a:p>
            <a:pPr algn="ctr"/>
            <a:r>
              <a:rPr sz="1800" b="1" i="0">
                <a:solidFill>
                  <a:srgbClr val="FFFFFF"/>
                </a:solidFill>
              </a:rPr>
              <a:t>3</a:t>
            </a:r>
          </a:p>
        </p:txBody>
      </p:sp>
      <p:sp>
        <p:nvSpPr>
          <p:cNvPr id="13" name="TextBox 12"/>
          <p:cNvSpPr txBox="1"/>
          <p:nvPr/>
        </p:nvSpPr>
        <p:spPr>
          <a:xfrm>
            <a:off x="850392" y="2743200"/>
            <a:ext cx="6309360" cy="475488"/>
          </a:xfrm>
          <a:prstGeom prst="rect">
            <a:avLst/>
          </a:prstGeom>
          <a:noFill/>
        </p:spPr>
        <p:txBody>
          <a:bodyPr wrap="square">
            <a:spAutoFit/>
          </a:bodyPr>
          <a:lstStyle/>
          <a:p>
            <a:pPr algn="l"/>
            <a:r>
              <a:rPr sz="1400" b="0" i="0">
                <a:solidFill>
                  <a:srgbClr val="404040"/>
                </a:solidFill>
              </a:rPr>
              <a:t>Plunge-freeze into liquid ethane at −170°C → vitreous ice</a:t>
            </a:r>
          </a:p>
        </p:txBody>
      </p:sp>
      <p:sp>
        <p:nvSpPr>
          <p:cNvPr id="14" name="Rectangle 13"/>
          <p:cNvSpPr/>
          <p:nvPr/>
        </p:nvSpPr>
        <p:spPr>
          <a:xfrm>
            <a:off x="274320" y="3419856"/>
            <a:ext cx="457200" cy="566928"/>
          </a:xfrm>
          <a:prstGeom prst="rect">
            <a:avLst/>
          </a:prstGeom>
          <a:solidFill>
            <a:srgbClr val="1E86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1752" y="3511296"/>
            <a:ext cx="402336" cy="384048"/>
          </a:xfrm>
          <a:prstGeom prst="rect">
            <a:avLst/>
          </a:prstGeom>
          <a:noFill/>
        </p:spPr>
        <p:txBody>
          <a:bodyPr wrap="square">
            <a:spAutoFit/>
          </a:bodyPr>
          <a:lstStyle/>
          <a:p>
            <a:pPr algn="ctr"/>
            <a:r>
              <a:rPr sz="1800" b="1" i="0">
                <a:solidFill>
                  <a:srgbClr val="FFFFFF"/>
                </a:solidFill>
              </a:rPr>
              <a:t>4</a:t>
            </a:r>
          </a:p>
        </p:txBody>
      </p:sp>
      <p:sp>
        <p:nvSpPr>
          <p:cNvPr id="16" name="TextBox 15"/>
          <p:cNvSpPr txBox="1"/>
          <p:nvPr/>
        </p:nvSpPr>
        <p:spPr>
          <a:xfrm>
            <a:off x="850392" y="3511296"/>
            <a:ext cx="6309360" cy="475488"/>
          </a:xfrm>
          <a:prstGeom prst="rect">
            <a:avLst/>
          </a:prstGeom>
          <a:noFill/>
        </p:spPr>
        <p:txBody>
          <a:bodyPr wrap="square">
            <a:spAutoFit/>
          </a:bodyPr>
          <a:lstStyle/>
          <a:p>
            <a:pPr algn="l"/>
            <a:r>
              <a:rPr sz="1400" b="0" i="0">
                <a:solidFill>
                  <a:srgbClr val="404040"/>
                </a:solidFill>
              </a:rPr>
              <a:t>Load into electron microscope; collect 50,000–200,000 images</a:t>
            </a:r>
          </a:p>
        </p:txBody>
      </p:sp>
      <p:sp>
        <p:nvSpPr>
          <p:cNvPr id="17" name="Rectangle 16"/>
          <p:cNvSpPr/>
          <p:nvPr/>
        </p:nvSpPr>
        <p:spPr>
          <a:xfrm>
            <a:off x="274320" y="4187952"/>
            <a:ext cx="457200" cy="566928"/>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1752" y="4279392"/>
            <a:ext cx="402336" cy="384048"/>
          </a:xfrm>
          <a:prstGeom prst="rect">
            <a:avLst/>
          </a:prstGeom>
          <a:noFill/>
        </p:spPr>
        <p:txBody>
          <a:bodyPr wrap="square">
            <a:spAutoFit/>
          </a:bodyPr>
          <a:lstStyle/>
          <a:p>
            <a:pPr algn="ctr"/>
            <a:r>
              <a:rPr sz="1800" b="1" i="0">
                <a:solidFill>
                  <a:srgbClr val="FFFFFF"/>
                </a:solidFill>
              </a:rPr>
              <a:t>5</a:t>
            </a:r>
          </a:p>
        </p:txBody>
      </p:sp>
      <p:sp>
        <p:nvSpPr>
          <p:cNvPr id="19" name="TextBox 18"/>
          <p:cNvSpPr txBox="1"/>
          <p:nvPr/>
        </p:nvSpPr>
        <p:spPr>
          <a:xfrm>
            <a:off x="850392" y="4279392"/>
            <a:ext cx="6309360" cy="475488"/>
          </a:xfrm>
          <a:prstGeom prst="rect">
            <a:avLst/>
          </a:prstGeom>
          <a:noFill/>
        </p:spPr>
        <p:txBody>
          <a:bodyPr wrap="square">
            <a:spAutoFit/>
          </a:bodyPr>
          <a:lstStyle/>
          <a:p>
            <a:pPr algn="l"/>
            <a:r>
              <a:rPr sz="1400" b="0" i="0">
                <a:solidFill>
                  <a:srgbClr val="404040"/>
                </a:solidFill>
              </a:rPr>
              <a:t>Pick particles; estimate 3D orientations (poses) computationally</a:t>
            </a:r>
          </a:p>
        </p:txBody>
      </p:sp>
      <p:sp>
        <p:nvSpPr>
          <p:cNvPr id="20" name="Rectangle 19"/>
          <p:cNvSpPr/>
          <p:nvPr/>
        </p:nvSpPr>
        <p:spPr>
          <a:xfrm>
            <a:off x="274320" y="4956048"/>
            <a:ext cx="457200" cy="566928"/>
          </a:xfrm>
          <a:prstGeom prst="rect">
            <a:avLst/>
          </a:prstGeom>
          <a:solidFill>
            <a:srgbClr val="7B35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1752" y="5047488"/>
            <a:ext cx="402336" cy="384048"/>
          </a:xfrm>
          <a:prstGeom prst="rect">
            <a:avLst/>
          </a:prstGeom>
          <a:noFill/>
        </p:spPr>
        <p:txBody>
          <a:bodyPr wrap="square">
            <a:spAutoFit/>
          </a:bodyPr>
          <a:lstStyle/>
          <a:p>
            <a:pPr algn="ctr"/>
            <a:r>
              <a:rPr sz="1800" b="1" i="0">
                <a:solidFill>
                  <a:srgbClr val="FFFFFF"/>
                </a:solidFill>
              </a:rPr>
              <a:t>6</a:t>
            </a:r>
          </a:p>
        </p:txBody>
      </p:sp>
      <p:sp>
        <p:nvSpPr>
          <p:cNvPr id="22" name="TextBox 21"/>
          <p:cNvSpPr txBox="1"/>
          <p:nvPr/>
        </p:nvSpPr>
        <p:spPr>
          <a:xfrm>
            <a:off x="850392" y="5047488"/>
            <a:ext cx="6309360" cy="475488"/>
          </a:xfrm>
          <a:prstGeom prst="rect">
            <a:avLst/>
          </a:prstGeom>
          <a:noFill/>
        </p:spPr>
        <p:txBody>
          <a:bodyPr wrap="square">
            <a:spAutoFit/>
          </a:bodyPr>
          <a:lstStyle/>
          <a:p>
            <a:pPr algn="l"/>
            <a:r>
              <a:rPr sz="1400" b="0" i="0">
                <a:solidFill>
                  <a:srgbClr val="404040"/>
                </a:solidFill>
              </a:rPr>
              <a:t>Reconstruct 3D density maps per conformational class</a:t>
            </a:r>
          </a:p>
        </p:txBody>
      </p:sp>
      <p:sp>
        <p:nvSpPr>
          <p:cNvPr id="23" name="Rectangle 22"/>
          <p:cNvSpPr/>
          <p:nvPr/>
        </p:nvSpPr>
        <p:spPr>
          <a:xfrm>
            <a:off x="7406640" y="1051560"/>
            <a:ext cx="4572000" cy="5303520"/>
          </a:xfrm>
          <a:prstGeom prst="rect">
            <a:avLst/>
          </a:prstGeom>
          <a:solidFill>
            <a:srgbClr val="F0F0F0"/>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79" y="1097280"/>
            <a:ext cx="4389120" cy="256032"/>
          </a:xfrm>
          <a:prstGeom prst="rect">
            <a:avLst/>
          </a:prstGeom>
          <a:noFill/>
        </p:spPr>
        <p:txBody>
          <a:bodyPr wrap="square">
            <a:spAutoFit/>
          </a:bodyPr>
          <a:lstStyle/>
          <a:p>
            <a:pPr algn="l"/>
            <a:r>
              <a:rPr sz="1000" b="1" i="0">
                <a:solidFill>
                  <a:srgbClr val="1A3A6C"/>
                </a:solidFill>
              </a:rPr>
              <a:t>[ Figure 6, Liu et al. — Mechanism paper ]</a:t>
            </a:r>
          </a:p>
        </p:txBody>
      </p:sp>
      <p:sp>
        <p:nvSpPr>
          <p:cNvPr id="25" name="Rectangle 24"/>
          <p:cNvSpPr/>
          <p:nvPr/>
        </p:nvSpPr>
        <p:spPr>
          <a:xfrm>
            <a:off x="7452360" y="1417320"/>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79" y="1453896"/>
            <a:ext cx="4343400" cy="237744"/>
          </a:xfrm>
          <a:prstGeom prst="rect">
            <a:avLst/>
          </a:prstGeom>
          <a:noFill/>
        </p:spPr>
        <p:txBody>
          <a:bodyPr wrap="square">
            <a:spAutoFit/>
          </a:bodyPr>
          <a:lstStyle/>
          <a:p>
            <a:pPr algn="l"/>
            <a:r>
              <a:rPr sz="1000" b="1" i="0">
                <a:solidFill>
                  <a:srgbClr val="1A3A6C"/>
                </a:solidFill>
              </a:rPr>
              <a:t>Panel A — Correctors only</a:t>
            </a:r>
          </a:p>
        </p:txBody>
      </p:sp>
      <p:sp>
        <p:nvSpPr>
          <p:cNvPr id="27" name="TextBox 26"/>
          <p:cNvSpPr txBox="1"/>
          <p:nvPr/>
        </p:nvSpPr>
        <p:spPr>
          <a:xfrm>
            <a:off x="7498079" y="1691640"/>
            <a:ext cx="4343400" cy="1143000"/>
          </a:xfrm>
          <a:prstGeom prst="rect">
            <a:avLst/>
          </a:prstGeom>
          <a:noFill/>
        </p:spPr>
        <p:txBody>
          <a:bodyPr wrap="square">
            <a:spAutoFit/>
          </a:bodyPr>
          <a:lstStyle/>
          <a:p>
            <a:pPr algn="l"/>
            <a:r>
              <a:rPr sz="900" b="0" i="0">
                <a:solidFill>
                  <a:srgbClr val="404040"/>
                </a:solidFill>
              </a:rPr>
              <a:t>CFTR + elexacaftor + tezacaftor.</a:t>
            </a:r>
          </a:p>
          <a:p>
            <a:pPr algn="l"/>
            <a:r>
              <a:rPr sz="900" b="0" i="0">
                <a:solidFill>
                  <a:srgbClr val="404040"/>
                </a:solidFill>
              </a:rPr>
              <a:t>Channel folded correctly but CLOSED.</a:t>
            </a:r>
          </a:p>
          <a:p>
            <a:pPr algn="l"/>
            <a:r>
              <a:rPr sz="900" b="0" i="0">
                <a:solidFill>
                  <a:srgbClr val="404040"/>
                </a:solidFill>
              </a:rPr>
              <a:t>CryoEM 2D class averages (noisy ring-</a:t>
            </a:r>
          </a:p>
          <a:p>
            <a:pPr algn="l"/>
            <a:r>
              <a:rPr sz="900" b="0" i="0">
                <a:solidFill>
                  <a:srgbClr val="404040"/>
                </a:solidFill>
              </a:rPr>
              <a:t>shaped images) → averaged &amp; aligned →</a:t>
            </a:r>
          </a:p>
          <a:p>
            <a:pPr algn="l"/>
            <a:r>
              <a:rPr sz="900" b="0" i="0">
                <a:solidFill>
                  <a:srgbClr val="404040"/>
                </a:solidFill>
              </a:rPr>
              <a:t>3D reconstruction at right shows the</a:t>
            </a:r>
          </a:p>
          <a:p>
            <a:pPr algn="l"/>
            <a:r>
              <a:rPr sz="900" b="0" i="0">
                <a:solidFill>
                  <a:srgbClr val="404040"/>
                </a:solidFill>
              </a:rPr>
              <a:t>full folded protein at ~3–4 Å.</a:t>
            </a:r>
          </a:p>
        </p:txBody>
      </p:sp>
      <p:sp>
        <p:nvSpPr>
          <p:cNvPr id="28" name="Rectangle 27"/>
          <p:cNvSpPr/>
          <p:nvPr/>
        </p:nvSpPr>
        <p:spPr>
          <a:xfrm>
            <a:off x="7452360" y="2990088"/>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3026664"/>
            <a:ext cx="4343400" cy="237744"/>
          </a:xfrm>
          <a:prstGeom prst="rect">
            <a:avLst/>
          </a:prstGeom>
          <a:noFill/>
        </p:spPr>
        <p:txBody>
          <a:bodyPr wrap="square">
            <a:spAutoFit/>
          </a:bodyPr>
          <a:lstStyle/>
          <a:p>
            <a:pPr algn="l"/>
            <a:r>
              <a:rPr sz="1000" b="1" i="0">
                <a:solidFill>
                  <a:srgbClr val="1A3A6C"/>
                </a:solidFill>
              </a:rPr>
              <a:t>Panel B — Full Trikafta</a:t>
            </a:r>
          </a:p>
        </p:txBody>
      </p:sp>
      <p:sp>
        <p:nvSpPr>
          <p:cNvPr id="30" name="TextBox 29"/>
          <p:cNvSpPr txBox="1"/>
          <p:nvPr/>
        </p:nvSpPr>
        <p:spPr>
          <a:xfrm>
            <a:off x="7498079" y="3264408"/>
            <a:ext cx="4343400" cy="1143000"/>
          </a:xfrm>
          <a:prstGeom prst="rect">
            <a:avLst/>
          </a:prstGeom>
          <a:noFill/>
        </p:spPr>
        <p:txBody>
          <a:bodyPr wrap="square">
            <a:spAutoFit/>
          </a:bodyPr>
          <a:lstStyle/>
          <a:p>
            <a:pPr algn="l"/>
            <a:r>
              <a:rPr sz="900" b="0" i="0">
                <a:solidFill>
                  <a:srgbClr val="404040"/>
                </a:solidFill>
              </a:rPr>
              <a:t>CFTR + all three drugs.</a:t>
            </a:r>
          </a:p>
          <a:p>
            <a:pPr algn="l"/>
            <a:r>
              <a:rPr sz="900" b="0" i="0">
                <a:solidFill>
                  <a:srgbClr val="404040"/>
                </a:solidFill>
              </a:rPr>
              <a:t>Channel in primed-open conformation.</a:t>
            </a:r>
          </a:p>
          <a:p>
            <a:pPr algn="l"/>
            <a:r>
              <a:rPr sz="900" b="0" i="0">
                <a:solidFill>
                  <a:srgbClr val="404040"/>
                </a:solidFill>
              </a:rPr>
              <a:t>Drug densities visible as extra density</a:t>
            </a:r>
          </a:p>
          <a:p>
            <a:pPr algn="l"/>
            <a:r>
              <a:rPr sz="900" b="0" i="0">
                <a:solidFill>
                  <a:srgbClr val="404040"/>
                </a:solidFill>
              </a:rPr>
              <a:t>in binding pockets. 3D model shows</a:t>
            </a:r>
          </a:p>
          <a:p>
            <a:pPr algn="l"/>
            <a:r>
              <a:rPr sz="900" b="0" i="0">
                <a:solidFill>
                  <a:srgbClr val="404040"/>
                </a:solidFill>
              </a:rPr>
              <a:t>NBD1/NBD2 engagement and open</a:t>
            </a:r>
          </a:p>
          <a:p>
            <a:pPr algn="l"/>
            <a:r>
              <a:rPr sz="900" b="0" i="0">
                <a:solidFill>
                  <a:srgbClr val="404040"/>
                </a:solidFill>
              </a:rPr>
              <a:t>channel pore configuration.</a:t>
            </a:r>
          </a:p>
        </p:txBody>
      </p:sp>
      <p:sp>
        <p:nvSpPr>
          <p:cNvPr id="31" name="Rectangle 30"/>
          <p:cNvSpPr/>
          <p:nvPr/>
        </p:nvSpPr>
        <p:spPr>
          <a:xfrm>
            <a:off x="7452360" y="4562856"/>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79" y="4599432"/>
            <a:ext cx="4343400" cy="237744"/>
          </a:xfrm>
          <a:prstGeom prst="rect">
            <a:avLst/>
          </a:prstGeom>
          <a:noFill/>
        </p:spPr>
        <p:txBody>
          <a:bodyPr wrap="square">
            <a:spAutoFit/>
          </a:bodyPr>
          <a:lstStyle/>
          <a:p>
            <a:pPr algn="l"/>
            <a:r>
              <a:rPr sz="1000" b="1" i="0">
                <a:solidFill>
                  <a:srgbClr val="1A3A6C"/>
                </a:solidFill>
              </a:rPr>
              <a:t>Panel C — Structural comparison</a:t>
            </a:r>
          </a:p>
        </p:txBody>
      </p:sp>
      <p:sp>
        <p:nvSpPr>
          <p:cNvPr id="33" name="TextBox 32"/>
          <p:cNvSpPr txBox="1"/>
          <p:nvPr/>
        </p:nvSpPr>
        <p:spPr>
          <a:xfrm>
            <a:off x="7498079" y="4837176"/>
            <a:ext cx="4343400" cy="1143000"/>
          </a:xfrm>
          <a:prstGeom prst="rect">
            <a:avLst/>
          </a:prstGeom>
          <a:noFill/>
        </p:spPr>
        <p:txBody>
          <a:bodyPr wrap="square">
            <a:spAutoFit/>
          </a:bodyPr>
          <a:lstStyle/>
          <a:p>
            <a:pPr algn="l"/>
            <a:r>
              <a:rPr sz="900" b="0" i="0">
                <a:solidFill>
                  <a:srgbClr val="404040"/>
                </a:solidFill>
              </a:rPr>
              <a:t>Overlay / difference of the two</a:t>
            </a:r>
          </a:p>
          <a:p>
            <a:pPr algn="l"/>
            <a:r>
              <a:rPr sz="900" b="0" i="0">
                <a:solidFill>
                  <a:srgbClr val="404040"/>
                </a:solidFill>
              </a:rPr>
              <a:t>states above. Coloured by domain</a:t>
            </a:r>
          </a:p>
          <a:p>
            <a:pPr algn="l"/>
            <a:r>
              <a:rPr sz="900" b="0" i="0">
                <a:solidFill>
                  <a:srgbClr val="404040"/>
                </a:solidFill>
              </a:rPr>
              <a:t>to highlight WHICH regions shifted.</a:t>
            </a:r>
          </a:p>
          <a:p>
            <a:pPr algn="l"/>
            <a:r>
              <a:rPr sz="900" b="0" i="0">
                <a:solidFill>
                  <a:srgbClr val="404040"/>
                </a:solidFill>
              </a:rPr>
              <a:t>Shows concretely how ivacaftor</a:t>
            </a:r>
          </a:p>
          <a:p>
            <a:pPr algn="l"/>
            <a:r>
              <a:rPr sz="900" b="0" i="0">
                <a:solidFill>
                  <a:srgbClr val="404040"/>
                </a:solidFill>
              </a:rPr>
              <a:t>(the potentiator) changes the</a:t>
            </a:r>
          </a:p>
          <a:p>
            <a:pPr algn="l"/>
            <a:r>
              <a:rPr sz="900" b="0" i="0">
                <a:solidFill>
                  <a:srgbClr val="404040"/>
                </a:solidFill>
              </a:rPr>
              <a:t>protein's conformation.</a:t>
            </a:r>
          </a:p>
        </p:txBody>
      </p:sp>
      <p:sp>
        <p:nvSpPr>
          <p:cNvPr id="34" name="TextBox 33"/>
          <p:cNvSpPr txBox="1"/>
          <p:nvPr/>
        </p:nvSpPr>
        <p:spPr>
          <a:xfrm>
            <a:off x="274320" y="6483096"/>
            <a:ext cx="11612880" cy="329184"/>
          </a:xfrm>
          <a:prstGeom prst="rect">
            <a:avLst/>
          </a:prstGeom>
          <a:noFill/>
        </p:spPr>
        <p:txBody>
          <a:bodyPr wrap="square">
            <a:spAutoFit/>
          </a:bodyPr>
          <a:lstStyle/>
          <a:p>
            <a:pPr algn="l"/>
            <a:r>
              <a:rPr sz="1200" b="1" i="1">
                <a:solidFill>
                  <a:srgbClr val="C55A11"/>
                </a:solidFill>
              </a:rPr>
              <a:t>KEY: each image is very noisy (SNR ~0.1). Proteins are frozen in RANDOM orientations — computational steps figure out which direction each was facing.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The Challenge: One Sample, Many Shapes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Sorting 100,000+ particle images into distinct conformational classes</a:t>
            </a:r>
          </a:p>
        </p:txBody>
      </p:sp>
      <p:sp>
        <p:nvSpPr>
          <p:cNvPr id="5" name="TextBox 4"/>
          <p:cNvSpPr txBox="1"/>
          <p:nvPr/>
        </p:nvSpPr>
        <p:spPr>
          <a:xfrm>
            <a:off x="365760" y="1051560"/>
            <a:ext cx="11430000" cy="5303520"/>
          </a:xfrm>
          <a:prstGeom prst="rect">
            <a:avLst/>
          </a:prstGeom>
          <a:noFill/>
        </p:spPr>
        <p:txBody>
          <a:bodyPr wrap="square">
            <a:spAutoFit/>
          </a:bodyPr>
          <a:lstStyle/>
          <a:p>
            <a:r>
              <a:rPr sz="1600">
                <a:solidFill>
                  <a:srgbClr val="404040"/>
                </a:solidFill>
              </a:rPr>
              <a:t>▸ CryoEM images ALL conformations mixed together — simple averaging blurs everything</a:t>
            </a:r>
          </a:p>
          <a:p>
            <a:r>
              <a:rPr sz="1600">
                <a:solidFill>
                  <a:srgbClr val="404040"/>
                </a:solidFill>
              </a:rPr>
              <a:t>▸ GOAL: sort particle images into conformational classes → reconstruct each separately</a:t>
            </a:r>
          </a:p>
          <a:p>
            <a:r>
              <a:rPr sz="1600">
                <a:solidFill>
                  <a:srgbClr val="404040"/>
                </a:solidFill>
              </a:rPr>
              <a:t>▸ For CFTR + Trikafta:</a:t>
            </a:r>
          </a:p>
          <a:p>
            <a:r>
              <a:rPr sz="1500">
                <a:solidFill>
                  <a:srgbClr val="404040"/>
                </a:solidFill>
              </a:rPr>
              <a:t>      • J1442: K=3 classes, 230,396 particles (debiased posteriors — our main dataset)</a:t>
            </a:r>
          </a:p>
          <a:p>
            <a:r>
              <a:rPr sz="1500">
                <a:solidFill>
                  <a:srgbClr val="404040"/>
                </a:solidFill>
              </a:rPr>
              <a:t>      • J1497: K=5 classes, same 230,396 particles (same data, more classes asked for)</a:t>
            </a:r>
          </a:p>
          <a:p>
            <a:r>
              <a:rPr sz="1500">
                <a:solidFill>
                  <a:srgbClr val="404040"/>
                </a:solidFill>
              </a:rPr>
              <a:t>      • J264: K=9 classes, 301,770 particles (separate, larger experiment)</a:t>
            </a:r>
          </a:p>
          <a:p>
            <a:r>
              <a:rPr sz="1600">
                <a:solidFill>
                  <a:srgbClr val="404040"/>
                </a:solidFill>
              </a:rPr>
              <a:t>▸ Central question: are these real conformations or algorithmic artifacts?</a:t>
            </a:r>
          </a:p>
          <a:p>
            <a:r>
              <a:rPr sz="1500">
                <a:solidFill>
                  <a:srgbClr val="404040"/>
                </a:solidFill>
              </a:rPr>
              <a:t>      • If two COMPLETELY INDEPENDENT methods find the same classes → high confidence they're real</a:t>
            </a:r>
          </a:p>
          <a:p>
            <a:r>
              <a:rPr sz="1600">
                <a:solidFill>
                  <a:srgbClr val="404040"/>
                </a:solidFill>
              </a:rPr>
              <a:t>▸ Method 1 — CryoSPARC: starts from reference maps, iterative refinement</a:t>
            </a:r>
          </a:p>
          <a:p>
            <a:r>
              <a:rPr sz="1600">
                <a:solidFill>
                  <a:srgbClr val="404040"/>
                </a:solidFill>
              </a:rPr>
              <a:t>▸ Method 2 — cryoDRGN: neural network, NO reference maps, learns from scratch</a:t>
            </a:r>
          </a:p>
          <a:p>
            <a:r>
              <a:rPr sz="1500">
                <a:solidFill>
                  <a:srgbClr val="404040"/>
                </a:solidFill>
              </a:rPr>
              <a:t>      • If both agree → conclusion is protected against bias of either method</a:t>
            </a:r>
          </a:p>
        </p:txBody>
      </p:sp>
      <p:sp>
        <p:nvSpPr>
          <p:cNvPr id="6" name="Rectangle 5"/>
          <p:cNvSpPr/>
          <p:nvPr/>
        </p:nvSpPr>
        <p:spPr>
          <a:xfrm>
            <a:off x="274320" y="6446520"/>
            <a:ext cx="11612880" cy="347472"/>
          </a:xfrm>
          <a:prstGeom prst="rect">
            <a:avLst/>
          </a:prstGeom>
          <a:solidFill>
            <a:srgbClr val="E0F8E0"/>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83096"/>
            <a:ext cx="11338560" cy="274320"/>
          </a:xfrm>
          <a:prstGeom prst="rect">
            <a:avLst/>
          </a:prstGeom>
          <a:noFill/>
        </p:spPr>
        <p:txBody>
          <a:bodyPr wrap="square">
            <a:spAutoFit/>
          </a:bodyPr>
          <a:lstStyle/>
          <a:p>
            <a:pPr algn="l"/>
            <a:r>
              <a:rPr sz="1300" b="1" i="0">
                <a:solidFill>
                  <a:srgbClr val="37863A"/>
                </a:solidFill>
              </a:rPr>
              <a:t>Both methods agree on 3 core CFTR states — the central result of this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CryoSPARC Hetero-Refinement: Power &amp; The Einstein-from-Noise Bias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Why standard refinement overestimates confidence — and how J1442 mitigated it</a:t>
            </a:r>
          </a:p>
        </p:txBody>
      </p:sp>
      <p:sp>
        <p:nvSpPr>
          <p:cNvPr id="5" name="TextBox 4"/>
          <p:cNvSpPr txBox="1"/>
          <p:nvPr/>
        </p:nvSpPr>
        <p:spPr>
          <a:xfrm>
            <a:off x="365760" y="1097280"/>
            <a:ext cx="4937760" cy="274320"/>
          </a:xfrm>
          <a:prstGeom prst="rect">
            <a:avLst/>
          </a:prstGeom>
          <a:noFill/>
        </p:spPr>
        <p:txBody>
          <a:bodyPr wrap="square">
            <a:spAutoFit/>
          </a:bodyPr>
          <a:lstStyle/>
          <a:p>
            <a:pPr algn="l"/>
            <a:r>
              <a:rPr sz="1500" b="1" i="0">
                <a:solidFill>
                  <a:srgbClr val="1A3A6C"/>
                </a:solidFill>
              </a:rPr>
              <a:t>How it works:</a:t>
            </a:r>
          </a:p>
        </p:txBody>
      </p:sp>
      <p:sp>
        <p:nvSpPr>
          <p:cNvPr id="6" name="TextBox 5"/>
          <p:cNvSpPr txBox="1"/>
          <p:nvPr/>
        </p:nvSpPr>
        <p:spPr>
          <a:xfrm>
            <a:off x="365760" y="1417320"/>
            <a:ext cx="4937760" cy="1737360"/>
          </a:xfrm>
          <a:prstGeom prst="rect">
            <a:avLst/>
          </a:prstGeom>
          <a:noFill/>
        </p:spPr>
        <p:txBody>
          <a:bodyPr wrap="square">
            <a:spAutoFit/>
          </a:bodyPr>
          <a:lstStyle/>
          <a:p>
            <a:r>
              <a:rPr sz="1400">
                <a:solidFill>
                  <a:srgbClr val="404040"/>
                </a:solidFill>
              </a:rPr>
              <a:t>▸ Start with K reference 3D maps</a:t>
            </a:r>
          </a:p>
          <a:p>
            <a:r>
              <a:rPr sz="1400">
                <a:solidFill>
                  <a:srgbClr val="404040"/>
                </a:solidFill>
              </a:rPr>
              <a:t>▸ E-step: assign each particle to best-matching map</a:t>
            </a:r>
          </a:p>
          <a:p>
            <a:r>
              <a:rPr sz="1400">
                <a:solidFill>
                  <a:srgbClr val="404040"/>
                </a:solidFill>
              </a:rPr>
              <a:t>▸ M-step: rebuild each map from assigned particles</a:t>
            </a:r>
          </a:p>
          <a:p>
            <a:r>
              <a:rPr sz="1400">
                <a:solidFill>
                  <a:srgbClr val="404040"/>
                </a:solidFill>
              </a:rPr>
              <a:t>▸ Iterate ~50–100 cycles → convergence</a:t>
            </a:r>
          </a:p>
        </p:txBody>
      </p:sp>
      <p:sp>
        <p:nvSpPr>
          <p:cNvPr id="7" name="TextBox 6"/>
          <p:cNvSpPr txBox="1"/>
          <p:nvPr/>
        </p:nvSpPr>
        <p:spPr>
          <a:xfrm>
            <a:off x="365760" y="3200400"/>
            <a:ext cx="4937760" cy="274320"/>
          </a:xfrm>
          <a:prstGeom prst="rect">
            <a:avLst/>
          </a:prstGeom>
          <a:noFill/>
        </p:spPr>
        <p:txBody>
          <a:bodyPr wrap="square">
            <a:spAutoFit/>
          </a:bodyPr>
          <a:lstStyle/>
          <a:p>
            <a:pPr algn="l"/>
            <a:r>
              <a:rPr sz="1500" b="1" i="0">
                <a:solidFill>
                  <a:srgbClr val="C55A11"/>
                </a:solidFill>
              </a:rPr>
              <a:t>The bias problem:</a:t>
            </a:r>
          </a:p>
        </p:txBody>
      </p:sp>
      <p:sp>
        <p:nvSpPr>
          <p:cNvPr id="8" name="TextBox 7"/>
          <p:cNvSpPr txBox="1"/>
          <p:nvPr/>
        </p:nvSpPr>
        <p:spPr>
          <a:xfrm>
            <a:off x="365760" y="3566160"/>
            <a:ext cx="4937760" cy="2286000"/>
          </a:xfrm>
          <a:prstGeom prst="rect">
            <a:avLst/>
          </a:prstGeom>
          <a:noFill/>
        </p:spPr>
        <p:txBody>
          <a:bodyPr wrap="square">
            <a:spAutoFit/>
          </a:bodyPr>
          <a:lstStyle/>
          <a:p>
            <a:r>
              <a:rPr sz="1400">
                <a:solidFill>
                  <a:srgbClr val="404040"/>
                </a:solidFill>
              </a:rPr>
              <a:t>▸ 'Einstein from noise': iterative refinement finds references even in pure noise</a:t>
            </a:r>
          </a:p>
          <a:p>
            <a:r>
              <a:rPr sz="1400">
                <a:solidFill>
                  <a:srgbClr val="404040"/>
                </a:solidFill>
              </a:rPr>
              <a:t>▸ Converges to LOCAL optimum near starting maps, not global truth</a:t>
            </a:r>
          </a:p>
          <a:p>
            <a:r>
              <a:rPr sz="1400">
                <a:solidFill>
                  <a:srgbClr val="404040"/>
                </a:solidFill>
              </a:rPr>
              <a:t>▸ Drives posteriors toward one-hot (overconfident) values</a:t>
            </a:r>
          </a:p>
          <a:p>
            <a:r>
              <a:rPr sz="1400">
                <a:solidFill>
                  <a:srgbClr val="404040"/>
                </a:solidFill>
              </a:rPr>
              <a:t>▸ Standard J1069 run: mean max-posterior = 0.992 (≈ 100% confident per particle)</a:t>
            </a:r>
          </a:p>
        </p:txBody>
      </p:sp>
      <p:sp>
        <p:nvSpPr>
          <p:cNvPr id="9" name="Rectangle 8"/>
          <p:cNvSpPr/>
          <p:nvPr/>
        </p:nvSpPr>
        <p:spPr>
          <a:xfrm>
            <a:off x="5486400" y="1051560"/>
            <a:ext cx="6492240" cy="2834640"/>
          </a:xfrm>
          <a:prstGeom prst="rect">
            <a:avLst/>
          </a:prstGeom>
          <a:solidFill>
            <a:srgbClr val="E8F0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23560" y="1115568"/>
            <a:ext cx="6263640" cy="274320"/>
          </a:xfrm>
          <a:prstGeom prst="rect">
            <a:avLst/>
          </a:prstGeom>
          <a:noFill/>
        </p:spPr>
        <p:txBody>
          <a:bodyPr wrap="square">
            <a:spAutoFit/>
          </a:bodyPr>
          <a:lstStyle/>
          <a:p>
            <a:pPr algn="l"/>
            <a:r>
              <a:rPr sz="1300" b="1" i="0">
                <a:solidFill>
                  <a:srgbClr val="1A3A6C"/>
                </a:solidFill>
              </a:rPr>
              <a:t>J1442: a deliberately LESS BIASED classification</a:t>
            </a:r>
          </a:p>
        </p:txBody>
      </p:sp>
      <p:sp>
        <p:nvSpPr>
          <p:cNvPr id="11" name="TextBox 10"/>
          <p:cNvSpPr txBox="1"/>
          <p:nvPr/>
        </p:nvSpPr>
        <p:spPr>
          <a:xfrm>
            <a:off x="5623560" y="1435608"/>
            <a:ext cx="6263640" cy="2423160"/>
          </a:xfrm>
          <a:prstGeom prst="rect">
            <a:avLst/>
          </a:prstGeom>
          <a:noFill/>
        </p:spPr>
        <p:txBody>
          <a:bodyPr wrap="square">
            <a:spAutoFit/>
          </a:bodyPr>
          <a:lstStyle/>
          <a:p>
            <a:pPr algn="l"/>
            <a:r>
              <a:rPr sz="1200" b="0" i="0">
                <a:solidFill>
                  <a:srgbClr val="404040"/>
                </a:solidFill>
              </a:rPr>
              <a:t>Starting from J1069's NU-refined volumes (fully converged)</a:t>
            </a:r>
          </a:p>
          <a:p>
            <a:pPr algn="l"/>
            <a:r>
              <a:rPr sz="1200" b="0" i="0">
                <a:solidFill>
                  <a:srgbClr val="404040"/>
                </a:solidFill>
              </a:rPr>
              <a:t>Re-classified the same particles BUT:</a:t>
            </a:r>
          </a:p>
          <a:p>
            <a:pPr algn="l"/>
            <a:r>
              <a:rPr sz="1200" b="0" i="0">
                <a:solidFill>
                  <a:srgbClr val="404040"/>
                </a:solidFill>
              </a:rPr>
              <a:t>  • O-EM learning rate = 0 (model does NOT update)</a:t>
            </a:r>
          </a:p>
          <a:p>
            <a:pPr algn="l"/>
            <a:r>
              <a:rPr sz="1200" b="0" i="0">
                <a:solidFill>
                  <a:srgbClr val="404040"/>
                </a:solidFill>
              </a:rPr>
              <a:t>  • Only ITERATION 1 — a single E-step</a:t>
            </a:r>
          </a:p>
          <a:p>
            <a:pPr algn="l"/>
            <a:r>
              <a:rPr sz="1200" b="0" i="0">
                <a:solidFill>
                  <a:srgbClr val="404040"/>
                </a:solidFill>
              </a:rPr>
              <a:t>  • No iterative bias accumulation</a:t>
            </a:r>
          </a:p>
          <a:p>
            <a:pPr algn="l"/>
            <a:r>
              <a:rPr sz="1200" b="0" i="0">
                <a:solidFill>
                  <a:srgbClr val="404040"/>
                </a:solidFill>
              </a:rPr>
              <a:t/>
            </a:r>
          </a:p>
          <a:p>
            <a:pPr algn="l"/>
            <a:r>
              <a:rPr sz="1200" b="0" i="0">
                <a:solidFill>
                  <a:srgbClr val="404040"/>
                </a:solidFill>
              </a:rPr>
              <a:t>This gives the RAW probability: 'how likely is this particle</a:t>
            </a:r>
          </a:p>
          <a:p>
            <a:pPr algn="l"/>
            <a:r>
              <a:rPr sz="1200" b="0" i="0">
                <a:solidFill>
                  <a:srgbClr val="404040"/>
                </a:solidFill>
              </a:rPr>
              <a:t>under each class model?' — before refinement amplifies separation.</a:t>
            </a:r>
          </a:p>
        </p:txBody>
      </p:sp>
      <p:sp>
        <p:nvSpPr>
          <p:cNvPr id="12" name="Rectangle 11"/>
          <p:cNvSpPr/>
          <p:nvPr/>
        </p:nvSpPr>
        <p:spPr>
          <a:xfrm>
            <a:off x="5486400" y="3977639"/>
            <a:ext cx="6492240" cy="1828800"/>
          </a:xfrm>
          <a:prstGeom prst="rect">
            <a:avLst/>
          </a:prstGeom>
          <a:solidFill>
            <a:srgbClr val="FFF4E0"/>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0" y="4041648"/>
            <a:ext cx="6263640" cy="256032"/>
          </a:xfrm>
          <a:prstGeom prst="rect">
            <a:avLst/>
          </a:prstGeom>
          <a:noFill/>
        </p:spPr>
        <p:txBody>
          <a:bodyPr wrap="square">
            <a:spAutoFit/>
          </a:bodyPr>
          <a:lstStyle/>
          <a:p>
            <a:pPr algn="l"/>
            <a:r>
              <a:rPr sz="1200" b="1" i="0">
                <a:solidFill>
                  <a:srgbClr val="C55A11"/>
                </a:solidFill>
              </a:rPr>
              <a:t>Posterior comparison (same 230,396 particles):</a:t>
            </a:r>
          </a:p>
        </p:txBody>
      </p:sp>
      <p:sp>
        <p:nvSpPr>
          <p:cNvPr id="14" name="TextBox 13"/>
          <p:cNvSpPr txBox="1"/>
          <p:nvPr/>
        </p:nvSpPr>
        <p:spPr>
          <a:xfrm>
            <a:off x="5623560" y="4343400"/>
            <a:ext cx="4297680" cy="310896"/>
          </a:xfrm>
          <a:prstGeom prst="rect">
            <a:avLst/>
          </a:prstGeom>
          <a:noFill/>
        </p:spPr>
        <p:txBody>
          <a:bodyPr wrap="square">
            <a:spAutoFit/>
          </a:bodyPr>
          <a:lstStyle/>
          <a:p>
            <a:pPr algn="l"/>
            <a:r>
              <a:rPr sz="1100" b="0" i="0">
                <a:solidFill>
                  <a:srgbClr val="404040"/>
                </a:solidFill>
              </a:rPr>
              <a:t>Biased J1069 (fully converged heteroref):</a:t>
            </a:r>
          </a:p>
        </p:txBody>
      </p:sp>
      <p:sp>
        <p:nvSpPr>
          <p:cNvPr id="15" name="Rectangle 14"/>
          <p:cNvSpPr/>
          <p:nvPr/>
        </p:nvSpPr>
        <p:spPr>
          <a:xfrm>
            <a:off x="9966960" y="4315968"/>
            <a:ext cx="1920240" cy="310896"/>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12680" y="4343400"/>
            <a:ext cx="1828800" cy="274320"/>
          </a:xfrm>
          <a:prstGeom prst="rect">
            <a:avLst/>
          </a:prstGeom>
          <a:noFill/>
        </p:spPr>
        <p:txBody>
          <a:bodyPr wrap="square">
            <a:spAutoFit/>
          </a:bodyPr>
          <a:lstStyle/>
          <a:p>
            <a:pPr algn="l"/>
            <a:r>
              <a:rPr sz="1100" b="1" i="0">
                <a:solidFill>
                  <a:srgbClr val="FFFFFF"/>
                </a:solidFill>
              </a:rPr>
              <a:t>0.992 mean max-p</a:t>
            </a:r>
          </a:p>
        </p:txBody>
      </p:sp>
      <p:sp>
        <p:nvSpPr>
          <p:cNvPr id="17" name="TextBox 16"/>
          <p:cNvSpPr txBox="1"/>
          <p:nvPr/>
        </p:nvSpPr>
        <p:spPr>
          <a:xfrm>
            <a:off x="5623560" y="4700016"/>
            <a:ext cx="4297680" cy="310896"/>
          </a:xfrm>
          <a:prstGeom prst="rect">
            <a:avLst/>
          </a:prstGeom>
          <a:noFill/>
        </p:spPr>
        <p:txBody>
          <a:bodyPr wrap="square">
            <a:spAutoFit/>
          </a:bodyPr>
          <a:lstStyle/>
          <a:p>
            <a:pPr algn="l"/>
            <a:r>
              <a:rPr sz="1100" b="0" i="0">
                <a:solidFill>
                  <a:srgbClr val="404040"/>
                </a:solidFill>
              </a:rPr>
              <a:t>Debiased J1442 (single E-step, lr=0):</a:t>
            </a:r>
          </a:p>
        </p:txBody>
      </p:sp>
      <p:sp>
        <p:nvSpPr>
          <p:cNvPr id="18" name="Rectangle 17"/>
          <p:cNvSpPr/>
          <p:nvPr/>
        </p:nvSpPr>
        <p:spPr>
          <a:xfrm>
            <a:off x="9966960" y="4672583"/>
            <a:ext cx="1920240" cy="310896"/>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12680" y="4700016"/>
            <a:ext cx="1828800" cy="274320"/>
          </a:xfrm>
          <a:prstGeom prst="rect">
            <a:avLst/>
          </a:prstGeom>
          <a:noFill/>
        </p:spPr>
        <p:txBody>
          <a:bodyPr wrap="square">
            <a:spAutoFit/>
          </a:bodyPr>
          <a:lstStyle/>
          <a:p>
            <a:pPr algn="l"/>
            <a:r>
              <a:rPr sz="1100" b="1" i="0">
                <a:solidFill>
                  <a:srgbClr val="FFFFFF"/>
                </a:solidFill>
              </a:rPr>
              <a:t>0.362 mean max-p</a:t>
            </a:r>
          </a:p>
        </p:txBody>
      </p:sp>
      <p:sp>
        <p:nvSpPr>
          <p:cNvPr id="20" name="TextBox 19"/>
          <p:cNvSpPr txBox="1"/>
          <p:nvPr/>
        </p:nvSpPr>
        <p:spPr>
          <a:xfrm>
            <a:off x="5623560" y="5056632"/>
            <a:ext cx="4297680" cy="310896"/>
          </a:xfrm>
          <a:prstGeom prst="rect">
            <a:avLst/>
          </a:prstGeom>
          <a:noFill/>
        </p:spPr>
        <p:txBody>
          <a:bodyPr wrap="square">
            <a:spAutoFit/>
          </a:bodyPr>
          <a:lstStyle/>
          <a:p>
            <a:pPr algn="l"/>
            <a:r>
              <a:rPr sz="1100" b="0" i="0">
                <a:solidFill>
                  <a:srgbClr val="404040"/>
                </a:solidFill>
              </a:rPr>
              <a:t>Expected if completely random (3 classes):</a:t>
            </a:r>
          </a:p>
        </p:txBody>
      </p:sp>
      <p:sp>
        <p:nvSpPr>
          <p:cNvPr id="21" name="Rectangle 20"/>
          <p:cNvSpPr/>
          <p:nvPr/>
        </p:nvSpPr>
        <p:spPr>
          <a:xfrm>
            <a:off x="9966960" y="5029200"/>
            <a:ext cx="192024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12680" y="5056632"/>
            <a:ext cx="1828800" cy="274320"/>
          </a:xfrm>
          <a:prstGeom prst="rect">
            <a:avLst/>
          </a:prstGeom>
          <a:noFill/>
        </p:spPr>
        <p:txBody>
          <a:bodyPr wrap="square">
            <a:spAutoFit/>
          </a:bodyPr>
          <a:lstStyle/>
          <a:p>
            <a:pPr algn="l"/>
            <a:r>
              <a:rPr sz="1100" b="1" i="0">
                <a:solidFill>
                  <a:srgbClr val="404040"/>
                </a:solidFill>
              </a:rPr>
              <a:t>0.333 baseline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GMM Pipeline: Quantifying Class Overlap — There IS Signal, But Also Genuine Ambiguity</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J1442 debiased posteriors (O-EM lr=0, single iteration) — 230,396 CFTR particles</a:t>
            </a:r>
          </a:p>
        </p:txBody>
      </p:sp>
      <p:pic>
        <p:nvPicPr>
          <p:cNvPr id="5" name="Picture 4" descr="pairwise_posterior_scatter_J1442.png"/>
          <p:cNvPicPr>
            <a:picLocks noChangeAspect="1"/>
          </p:cNvPicPr>
          <p:nvPr/>
        </p:nvPicPr>
        <p:blipFill>
          <a:blip r:embed="rId2"/>
          <a:stretch>
            <a:fillRect/>
          </a:stretch>
        </p:blipFill>
        <p:spPr>
          <a:xfrm>
            <a:off x="182880" y="1051560"/>
            <a:ext cx="7315200" cy="2417757"/>
          </a:xfrm>
          <a:prstGeom prst="rect">
            <a:avLst/>
          </a:prstGeom>
        </p:spPr>
      </p:pic>
      <p:sp>
        <p:nvSpPr>
          <p:cNvPr id="6" name="Rectangle 5"/>
          <p:cNvSpPr/>
          <p:nvPr/>
        </p:nvSpPr>
        <p:spPr>
          <a:xfrm>
            <a:off x="182880" y="5943600"/>
            <a:ext cx="7315200" cy="86868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989320"/>
            <a:ext cx="7168896" cy="777240"/>
          </a:xfrm>
          <a:prstGeom prst="rect">
            <a:avLst/>
          </a:prstGeom>
          <a:noFill/>
        </p:spPr>
        <p:txBody>
          <a:bodyPr wrap="square">
            <a:spAutoFit/>
          </a:bodyPr>
          <a:lstStyle/>
          <a:p>
            <a:pPr algn="l"/>
            <a:r>
              <a:rPr sz="1000" b="0" i="1">
                <a:solidFill>
                  <a:srgbClr val="404040"/>
                </a:solidFill>
              </a:rPr>
              <a:t>Three panels: each compares two class probabilities. Dot = 1 particle (50k shown).</a:t>
            </a:r>
          </a:p>
          <a:p>
            <a:pPr algn="l"/>
            <a:r>
              <a:rPr sz="1000" b="0" i="1">
                <a:solidFill>
                  <a:srgbClr val="404040"/>
                </a:solidFill>
              </a:rPr>
              <a:t>Color = CryoSPARC assignment. Dots lean toward 'their corner' (diagonal has more</a:t>
            </a:r>
          </a:p>
          <a:p>
            <a:pPr algn="l"/>
            <a:r>
              <a:rPr sz="1000" b="0" i="1">
                <a:solidFill>
                  <a:srgbClr val="404040"/>
                </a:solidFill>
              </a:rPr>
              <a:t>of each color) — confirming real class signal. But the overlap near center (0.33, 0.33)</a:t>
            </a:r>
          </a:p>
          <a:p>
            <a:pPr algn="l"/>
            <a:r>
              <a:rPr sz="1000" b="0" i="1">
                <a:solidFill>
                  <a:srgbClr val="404040"/>
                </a:solidFill>
              </a:rPr>
              <a:t>confirms genuine conformational ambiguity. These are debiased (honest) posteriors.</a:t>
            </a:r>
          </a:p>
        </p:txBody>
      </p:sp>
      <p:pic>
        <p:nvPicPr>
          <p:cNvPr id="8" name="Picture 7" descr="confusion_gmm_equalprior.png"/>
          <p:cNvPicPr>
            <a:picLocks noChangeAspect="1"/>
          </p:cNvPicPr>
          <p:nvPr/>
        </p:nvPicPr>
        <p:blipFill>
          <a:blip r:embed="rId3"/>
          <a:stretch>
            <a:fillRect/>
          </a:stretch>
        </p:blipFill>
        <p:spPr>
          <a:xfrm>
            <a:off x="7726679" y="1051560"/>
            <a:ext cx="4251960" cy="3843118"/>
          </a:xfrm>
          <a:prstGeom prst="rect">
            <a:avLst/>
          </a:prstGeom>
        </p:spPr>
      </p:pic>
      <p:sp>
        <p:nvSpPr>
          <p:cNvPr id="9" name="Rectangle 8"/>
          <p:cNvSpPr/>
          <p:nvPr/>
        </p:nvSpPr>
        <p:spPr>
          <a:xfrm>
            <a:off x="7726679" y="4206240"/>
            <a:ext cx="4251960" cy="210312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99831" y="4251959"/>
            <a:ext cx="4105656" cy="2011679"/>
          </a:xfrm>
          <a:prstGeom prst="rect">
            <a:avLst/>
          </a:prstGeom>
          <a:noFill/>
        </p:spPr>
        <p:txBody>
          <a:bodyPr wrap="square">
            <a:spAutoFit/>
          </a:bodyPr>
          <a:lstStyle/>
          <a:p>
            <a:pPr algn="l"/>
            <a:r>
              <a:rPr sz="1000" b="0" i="1">
                <a:solidFill>
                  <a:srgbClr val="404040"/>
                </a:solidFill>
              </a:rPr>
              <a:t>GMM equal-prior confusion — the GMM fit output.</a:t>
            </a:r>
          </a:p>
          <a:p>
            <a:pPr algn="l"/>
            <a:r>
              <a:rPr sz="1000" b="0" i="1">
                <a:solidFill>
                  <a:srgbClr val="404040"/>
                </a:solidFill>
              </a:rPr>
              <a:t>Rows = CryoSPARC class; cols = GMM hard assignment</a:t>
            </a:r>
          </a:p>
          <a:p>
            <a:pPr algn="l"/>
            <a:r>
              <a:rPr sz="1000" b="0" i="1">
                <a:solidFill>
                  <a:srgbClr val="404040"/>
                </a:solidFill>
              </a:rPr>
              <a:t>under equal-prior decision rule (pure geometry).</a:t>
            </a:r>
          </a:p>
          <a:p>
            <a:pPr algn="l"/>
            <a:r>
              <a:rPr sz="1000" b="0" i="1">
                <a:solidFill>
                  <a:srgbClr val="404040"/>
                </a:solidFill>
              </a:rPr>
              <a:t>P6 diagonal 0.87 → well-separated in GMM space.</a:t>
            </a:r>
          </a:p>
          <a:p>
            <a:pPr algn="l"/>
            <a:r>
              <a:rPr sz="1000" b="0" i="1">
                <a:solidFill>
                  <a:srgbClr val="404040"/>
                </a:solidFill>
              </a:rPr>
              <a:t>P7 = 0.69, P8 = 0.59 → more GMM overlap, P7/P8</a:t>
            </a:r>
          </a:p>
          <a:p>
            <a:pPr algn="l"/>
            <a:r>
              <a:rPr sz="1000" b="0" i="1">
                <a:solidFill>
                  <a:srgbClr val="404040"/>
                </a:solidFill>
              </a:rPr>
              <a:t>share a region of the ALR-posterior landscape.</a:t>
            </a:r>
          </a:p>
          <a:p>
            <a:pPr algn="l"/>
            <a:r>
              <a:rPr sz="1000" b="0" i="1">
                <a:solidFill>
                  <a:srgbClr val="404040"/>
                </a:solidFill>
              </a:rPr>
              <a:t/>
            </a:r>
          </a:p>
          <a:p>
            <a:pPr algn="l"/>
            <a:r>
              <a:rPr sz="1000" b="0" i="1">
                <a:solidFill>
                  <a:srgbClr val="404040"/>
                </a:solidFill>
              </a:rPr>
              <a:t>This is the DIRECT output of fitting the Gaussian</a:t>
            </a:r>
          </a:p>
          <a:p>
            <a:pPr algn="l"/>
            <a:r>
              <a:rPr sz="1000" b="0" i="1">
                <a:solidFill>
                  <a:srgbClr val="404040"/>
                </a:solidFill>
              </a:rPr>
              <a:t>Mixture Model — how well the 3 fitted Gaussians</a:t>
            </a:r>
          </a:p>
          <a:p>
            <a:pPr algn="l"/>
            <a:r>
              <a:rPr sz="1000" b="0" i="1">
                <a:solidFill>
                  <a:srgbClr val="404040"/>
                </a:solidFill>
              </a:rPr>
              <a:t>separate under an unbiased equal-prior rule.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CryoDRGN: A Neural Network for Unsupervised Conformational Analysis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No reference maps required — the latent space emerges from the image data itself</a:t>
            </a:r>
          </a:p>
        </p:txBody>
      </p:sp>
      <p:sp>
        <p:nvSpPr>
          <p:cNvPr id="5" name="Rectangle 4"/>
          <p:cNvSpPr/>
          <p:nvPr/>
        </p:nvSpPr>
        <p:spPr>
          <a:xfrm>
            <a:off x="182880" y="1097280"/>
            <a:ext cx="2331720" cy="347472"/>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7744" y="1133856"/>
            <a:ext cx="2221991" cy="274320"/>
          </a:xfrm>
          <a:prstGeom prst="rect">
            <a:avLst/>
          </a:prstGeom>
          <a:noFill/>
        </p:spPr>
        <p:txBody>
          <a:bodyPr wrap="square">
            <a:spAutoFit/>
          </a:bodyPr>
          <a:lstStyle/>
          <a:p>
            <a:pPr algn="ctr"/>
            <a:r>
              <a:rPr sz="1200" b="1" i="0">
                <a:solidFill>
                  <a:srgbClr val="FFFFFF"/>
                </a:solidFill>
              </a:rPr>
              <a:t>① INPUT</a:t>
            </a:r>
          </a:p>
          <a:p>
            <a:pPr algn="ctr"/>
            <a:r>
              <a:rPr sz="1200" b="1" i="0">
                <a:solidFill>
                  <a:srgbClr val="FFFFFF"/>
                </a:solidFill>
              </a:rPr>
              <a:t>Particle Image</a:t>
            </a:r>
          </a:p>
        </p:txBody>
      </p:sp>
      <p:sp>
        <p:nvSpPr>
          <p:cNvPr id="7" name="Rectangle 6"/>
          <p:cNvSpPr/>
          <p:nvPr/>
        </p:nvSpPr>
        <p:spPr>
          <a:xfrm>
            <a:off x="182880" y="1444752"/>
            <a:ext cx="2331720" cy="2258568"/>
          </a:xfrm>
          <a:prstGeom prst="rect">
            <a:avLst/>
          </a:prstGeom>
          <a:solidFill>
            <a:srgbClr val="F2F6FF"/>
          </a:solidFill>
          <a:ln>
            <a:solidFill>
              <a:srgbClr val="1A3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7744" y="1481328"/>
            <a:ext cx="2221991" cy="2148840"/>
          </a:xfrm>
          <a:prstGeom prst="rect">
            <a:avLst/>
          </a:prstGeom>
          <a:noFill/>
        </p:spPr>
        <p:txBody>
          <a:bodyPr wrap="square">
            <a:spAutoFit/>
          </a:bodyPr>
          <a:lstStyle/>
          <a:p>
            <a:pPr algn="ctr"/>
            <a:r>
              <a:rPr sz="950" b="0" i="0">
                <a:solidFill>
                  <a:srgbClr val="404040"/>
                </a:solidFill>
              </a:rPr>
              <a:t>Noisy 256×256 cryo-EM image</a:t>
            </a:r>
          </a:p>
          <a:p>
            <a:pPr algn="ctr"/>
            <a:r>
              <a:rPr sz="950" b="0" i="0">
                <a:solidFill>
                  <a:srgbClr val="404040"/>
                </a:solidFill>
              </a:rPr>
              <a:t>+ estimated orientation</a:t>
            </a:r>
          </a:p>
          <a:p>
            <a:pPr algn="ctr"/>
            <a:r>
              <a:rPr sz="950" b="0" i="0">
                <a:solidFill>
                  <a:srgbClr val="404040"/>
                </a:solidFill>
              </a:rPr>
              <a:t>+ contrast function (CTF)</a:t>
            </a:r>
          </a:p>
          <a:p>
            <a:pPr algn="ctr"/>
            <a:r>
              <a:rPr sz="950" b="0" i="0">
                <a:solidFill>
                  <a:srgbClr val="404040"/>
                </a:solidFill>
              </a:rPr>
              <a:t/>
            </a:r>
          </a:p>
          <a:p>
            <a:pPr algn="ctr"/>
            <a:r>
              <a:rPr sz="950" b="0" i="0">
                <a:solidFill>
                  <a:srgbClr val="404040"/>
                </a:solidFill>
              </a:rPr>
              <a:t>230,000 particles per run</a:t>
            </a:r>
          </a:p>
          <a:p>
            <a:pPr algn="ctr"/>
            <a:r>
              <a:rPr sz="950" b="0" i="0">
                <a:solidFill>
                  <a:srgbClr val="404040"/>
                </a:solidFill>
              </a:rPr>
              <a:t/>
            </a:r>
          </a:p>
          <a:p>
            <a:pPr algn="ctr"/>
            <a:r>
              <a:rPr sz="950" b="0" i="0">
                <a:solidFill>
                  <a:srgbClr val="404040"/>
                </a:solidFill>
              </a:rPr>
              <a:t>This is ALL we give the</a:t>
            </a:r>
          </a:p>
          <a:p>
            <a:pPr algn="ctr"/>
            <a:r>
              <a:rPr sz="950" b="0" i="0">
                <a:solidFill>
                  <a:srgbClr val="404040"/>
                </a:solidFill>
              </a:rPr>
              <a:t>neural network to work with</a:t>
            </a:r>
          </a:p>
        </p:txBody>
      </p:sp>
      <p:sp>
        <p:nvSpPr>
          <p:cNvPr id="9" name="TextBox 8"/>
          <p:cNvSpPr txBox="1"/>
          <p:nvPr/>
        </p:nvSpPr>
        <p:spPr>
          <a:xfrm>
            <a:off x="2560320" y="2176272"/>
            <a:ext cx="457200" cy="457200"/>
          </a:xfrm>
          <a:prstGeom prst="rect">
            <a:avLst/>
          </a:prstGeom>
          <a:noFill/>
        </p:spPr>
        <p:txBody>
          <a:bodyPr wrap="square">
            <a:spAutoFit/>
          </a:bodyPr>
          <a:lstStyle/>
          <a:p>
            <a:pPr algn="ctr"/>
            <a:r>
              <a:rPr sz="2800" b="1" i="0">
                <a:solidFill>
                  <a:srgbClr val="1A3A6C"/>
                </a:solidFill>
              </a:rPr>
              <a:t>→</a:t>
            </a:r>
          </a:p>
        </p:txBody>
      </p:sp>
      <p:sp>
        <p:nvSpPr>
          <p:cNvPr id="10" name="TextBox 9"/>
          <p:cNvSpPr txBox="1"/>
          <p:nvPr/>
        </p:nvSpPr>
        <p:spPr>
          <a:xfrm>
            <a:off x="2542032" y="2011680"/>
            <a:ext cx="502920" cy="228600"/>
          </a:xfrm>
          <a:prstGeom prst="rect">
            <a:avLst/>
          </a:prstGeom>
          <a:noFill/>
        </p:spPr>
        <p:txBody>
          <a:bodyPr wrap="square">
            <a:spAutoFit/>
          </a:bodyPr>
          <a:lstStyle/>
          <a:p>
            <a:pPr algn="l"/>
            <a:r>
              <a:rPr sz="900" b="0" i="1">
                <a:solidFill>
                  <a:srgbClr val="1A3A6C"/>
                </a:solidFill>
              </a:rPr>
              <a:t>encode</a:t>
            </a:r>
          </a:p>
        </p:txBody>
      </p:sp>
      <p:sp>
        <p:nvSpPr>
          <p:cNvPr id="11" name="Rectangle 10"/>
          <p:cNvSpPr/>
          <p:nvPr/>
        </p:nvSpPr>
        <p:spPr>
          <a:xfrm>
            <a:off x="3063240" y="1097280"/>
            <a:ext cx="2468880" cy="34747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18104" y="1133856"/>
            <a:ext cx="2359152" cy="274320"/>
          </a:xfrm>
          <a:prstGeom prst="rect">
            <a:avLst/>
          </a:prstGeom>
          <a:noFill/>
        </p:spPr>
        <p:txBody>
          <a:bodyPr wrap="square">
            <a:spAutoFit/>
          </a:bodyPr>
          <a:lstStyle/>
          <a:p>
            <a:pPr algn="ctr"/>
            <a:r>
              <a:rPr sz="1200" b="1" i="0">
                <a:solidFill>
                  <a:srgbClr val="FFFFFF"/>
                </a:solidFill>
              </a:rPr>
              <a:t>② ENCODER</a:t>
            </a:r>
          </a:p>
          <a:p>
            <a:pPr algn="ctr"/>
            <a:r>
              <a:rPr sz="1200" b="1" i="0">
                <a:solidFill>
                  <a:srgbClr val="FFFFFF"/>
                </a:solidFill>
              </a:rPr>
              <a:t>(ConvNet)</a:t>
            </a:r>
          </a:p>
        </p:txBody>
      </p:sp>
      <p:sp>
        <p:nvSpPr>
          <p:cNvPr id="13" name="Rectangle 12"/>
          <p:cNvSpPr/>
          <p:nvPr/>
        </p:nvSpPr>
        <p:spPr>
          <a:xfrm>
            <a:off x="3063240" y="1444752"/>
            <a:ext cx="2468880" cy="2258568"/>
          </a:xfrm>
          <a:prstGeom prst="rect">
            <a:avLst/>
          </a:prstGeom>
          <a:solidFill>
            <a:srgbClr val="F2F6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18104" y="1481328"/>
            <a:ext cx="2359152" cy="2148840"/>
          </a:xfrm>
          <a:prstGeom prst="rect">
            <a:avLst/>
          </a:prstGeom>
          <a:noFill/>
        </p:spPr>
        <p:txBody>
          <a:bodyPr wrap="square">
            <a:spAutoFit/>
          </a:bodyPr>
          <a:lstStyle/>
          <a:p>
            <a:pPr algn="ctr"/>
            <a:r>
              <a:rPr sz="950" b="0" i="0">
                <a:solidFill>
                  <a:srgbClr val="404040"/>
                </a:solidFill>
              </a:rPr>
              <a:t>Stacked CNN layers</a:t>
            </a:r>
          </a:p>
          <a:p>
            <a:pPr algn="ctr"/>
            <a:r>
              <a:rPr sz="950" b="0" i="0">
                <a:solidFill>
                  <a:srgbClr val="404040"/>
                </a:solidFill>
              </a:rPr>
              <a:t>Compress 256×256 image</a:t>
            </a:r>
          </a:p>
          <a:p>
            <a:pPr algn="ctr"/>
            <a:r>
              <a:rPr sz="950" b="0" i="0">
                <a:solidFill>
                  <a:srgbClr val="404040"/>
                </a:solidFill>
              </a:rPr>
              <a:t>→ mean μ and variance σ²</a:t>
            </a:r>
          </a:p>
          <a:p>
            <a:pPr algn="ctr"/>
            <a:r>
              <a:rPr sz="950" b="0" i="0">
                <a:solidFill>
                  <a:srgbClr val="404040"/>
                </a:solidFill>
              </a:rPr>
              <a:t>in 10 dimensions</a:t>
            </a:r>
          </a:p>
          <a:p>
            <a:pPr algn="ctr"/>
            <a:r>
              <a:rPr sz="950" b="0" i="0">
                <a:solidFill>
                  <a:srgbClr val="404040"/>
                </a:solidFill>
              </a:rPr>
              <a:t/>
            </a:r>
          </a:p>
          <a:p>
            <a:pPr algn="ctr"/>
            <a:r>
              <a:rPr sz="950" b="0" i="0">
                <a:solidFill>
                  <a:srgbClr val="404040"/>
                </a:solidFill>
              </a:rPr>
              <a:t>'Learns what makes</a:t>
            </a:r>
          </a:p>
          <a:p>
            <a:pPr algn="ctr"/>
            <a:r>
              <a:rPr sz="950" b="0" i="0">
                <a:solidFill>
                  <a:srgbClr val="404040"/>
                </a:solidFill>
              </a:rPr>
              <a:t>different CFTR shapes</a:t>
            </a:r>
          </a:p>
          <a:p>
            <a:pPr algn="ctr"/>
            <a:r>
              <a:rPr sz="950" b="0" i="0">
                <a:solidFill>
                  <a:srgbClr val="404040"/>
                </a:solidFill>
              </a:rPr>
              <a:t>look different'</a:t>
            </a:r>
          </a:p>
        </p:txBody>
      </p:sp>
      <p:sp>
        <p:nvSpPr>
          <p:cNvPr id="15" name="TextBox 14"/>
          <p:cNvSpPr txBox="1"/>
          <p:nvPr/>
        </p:nvSpPr>
        <p:spPr>
          <a:xfrm>
            <a:off x="5577840" y="2176272"/>
            <a:ext cx="457200" cy="457200"/>
          </a:xfrm>
          <a:prstGeom prst="rect">
            <a:avLst/>
          </a:prstGeom>
          <a:noFill/>
        </p:spPr>
        <p:txBody>
          <a:bodyPr wrap="square">
            <a:spAutoFit/>
          </a:bodyPr>
          <a:lstStyle/>
          <a:p>
            <a:pPr algn="ctr"/>
            <a:r>
              <a:rPr sz="2800" b="1" i="0">
                <a:solidFill>
                  <a:srgbClr val="2E75B6"/>
                </a:solidFill>
              </a:rPr>
              <a:t>→</a:t>
            </a:r>
          </a:p>
        </p:txBody>
      </p:sp>
      <p:sp>
        <p:nvSpPr>
          <p:cNvPr id="16" name="TextBox 15"/>
          <p:cNvSpPr txBox="1"/>
          <p:nvPr/>
        </p:nvSpPr>
        <p:spPr>
          <a:xfrm>
            <a:off x="5532120" y="1993392"/>
            <a:ext cx="640080" cy="274320"/>
          </a:xfrm>
          <a:prstGeom prst="rect">
            <a:avLst/>
          </a:prstGeom>
          <a:noFill/>
        </p:spPr>
        <p:txBody>
          <a:bodyPr wrap="square">
            <a:spAutoFit/>
          </a:bodyPr>
          <a:lstStyle/>
          <a:p>
            <a:pPr algn="l"/>
            <a:r>
              <a:rPr sz="800" b="0" i="1">
                <a:solidFill>
                  <a:srgbClr val="2E75B6"/>
                </a:solidFill>
              </a:rPr>
              <a:t>sample z~N(μ,σ)</a:t>
            </a:r>
          </a:p>
        </p:txBody>
      </p:sp>
      <p:sp>
        <p:nvSpPr>
          <p:cNvPr id="17" name="Rectangle 16"/>
          <p:cNvSpPr/>
          <p:nvPr/>
        </p:nvSpPr>
        <p:spPr>
          <a:xfrm>
            <a:off x="6080760" y="1097280"/>
            <a:ext cx="2331720" cy="347472"/>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35624" y="1133856"/>
            <a:ext cx="2221991" cy="274320"/>
          </a:xfrm>
          <a:prstGeom prst="rect">
            <a:avLst/>
          </a:prstGeom>
          <a:noFill/>
        </p:spPr>
        <p:txBody>
          <a:bodyPr wrap="square">
            <a:spAutoFit/>
          </a:bodyPr>
          <a:lstStyle/>
          <a:p>
            <a:pPr algn="ctr"/>
            <a:r>
              <a:rPr sz="1200" b="1" i="0">
                <a:solidFill>
                  <a:srgbClr val="FFFFFF"/>
                </a:solidFill>
              </a:rPr>
              <a:t>③ LATENT z</a:t>
            </a:r>
          </a:p>
          <a:p>
            <a:pPr algn="ctr"/>
            <a:r>
              <a:rPr sz="1200" b="1" i="0">
                <a:solidFill>
                  <a:srgbClr val="FFFFFF"/>
                </a:solidFill>
              </a:rPr>
              <a:t>(10 numbers)</a:t>
            </a:r>
          </a:p>
        </p:txBody>
      </p:sp>
      <p:sp>
        <p:nvSpPr>
          <p:cNvPr id="19" name="Rectangle 18"/>
          <p:cNvSpPr/>
          <p:nvPr/>
        </p:nvSpPr>
        <p:spPr>
          <a:xfrm>
            <a:off x="6080760" y="1444752"/>
            <a:ext cx="2331720" cy="2258568"/>
          </a:xfrm>
          <a:prstGeom prst="rect">
            <a:avLst/>
          </a:prstGeom>
          <a:solidFill>
            <a:srgbClr val="F2F6FF"/>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5624" y="1481328"/>
            <a:ext cx="2221991" cy="2148840"/>
          </a:xfrm>
          <a:prstGeom prst="rect">
            <a:avLst/>
          </a:prstGeom>
          <a:noFill/>
        </p:spPr>
        <p:txBody>
          <a:bodyPr wrap="square">
            <a:spAutoFit/>
          </a:bodyPr>
          <a:lstStyle/>
          <a:p>
            <a:pPr algn="ctr"/>
            <a:r>
              <a:rPr sz="950" b="0" i="0">
                <a:solidFill>
                  <a:srgbClr val="404040"/>
                </a:solidFill>
              </a:rPr>
              <a:t>Each particle gets</a:t>
            </a:r>
          </a:p>
          <a:p>
            <a:pPr algn="ctr"/>
            <a:r>
              <a:rPr sz="950" b="0" i="0">
                <a:solidFill>
                  <a:srgbClr val="404040"/>
                </a:solidFill>
              </a:rPr>
              <a:t>10 numbers (z)</a:t>
            </a:r>
          </a:p>
          <a:p>
            <a:pPr algn="ctr"/>
            <a:r>
              <a:rPr sz="950" b="0" i="0">
                <a:solidFill>
                  <a:srgbClr val="404040"/>
                </a:solidFill>
              </a:rPr>
              <a:t/>
            </a:r>
          </a:p>
          <a:p>
            <a:pPr algn="ctr"/>
            <a:r>
              <a:rPr sz="950" b="0" i="0">
                <a:solidFill>
                  <a:srgbClr val="404040"/>
                </a:solidFill>
              </a:rPr>
              <a:t>= 'Conformational</a:t>
            </a:r>
          </a:p>
          <a:p>
            <a:pPr algn="ctr"/>
            <a:r>
              <a:rPr sz="950" b="0" i="0">
                <a:solidFill>
                  <a:srgbClr val="404040"/>
                </a:solidFill>
              </a:rPr>
              <a:t>  GPS coordinates'</a:t>
            </a:r>
          </a:p>
          <a:p>
            <a:pPr algn="ctr"/>
            <a:r>
              <a:rPr sz="950" b="0" i="0">
                <a:solidFill>
                  <a:srgbClr val="404040"/>
                </a:solidFill>
              </a:rPr>
              <a:t/>
            </a:r>
          </a:p>
          <a:p>
            <a:pPr algn="ctr"/>
            <a:r>
              <a:rPr sz="950" b="0" i="0">
                <a:solidFill>
                  <a:srgbClr val="404040"/>
                </a:solidFill>
              </a:rPr>
              <a:t>Similar shapes → close z</a:t>
            </a:r>
          </a:p>
          <a:p>
            <a:pPr algn="ctr"/>
            <a:r>
              <a:rPr sz="950" b="0" i="0">
                <a:solidFill>
                  <a:srgbClr val="404040"/>
                </a:solidFill>
              </a:rPr>
              <a:t>Different shapes → far z</a:t>
            </a:r>
          </a:p>
          <a:p>
            <a:pPr algn="ctr"/>
            <a:r>
              <a:rPr sz="950" b="0" i="0">
                <a:solidFill>
                  <a:srgbClr val="404040"/>
                </a:solidFill>
              </a:rPr>
              <a:t/>
            </a:r>
          </a:p>
          <a:p>
            <a:pPr algn="ctr"/>
            <a:r>
              <a:rPr sz="950" b="0" i="0">
                <a:solidFill>
                  <a:srgbClr val="404040"/>
                </a:solidFill>
              </a:rPr>
              <a:t>WE ANALYSE THIS</a:t>
            </a:r>
          </a:p>
        </p:txBody>
      </p:sp>
      <p:sp>
        <p:nvSpPr>
          <p:cNvPr id="21" name="TextBox 20"/>
          <p:cNvSpPr txBox="1"/>
          <p:nvPr/>
        </p:nvSpPr>
        <p:spPr>
          <a:xfrm>
            <a:off x="8458200" y="2176272"/>
            <a:ext cx="457200" cy="457200"/>
          </a:xfrm>
          <a:prstGeom prst="rect">
            <a:avLst/>
          </a:prstGeom>
          <a:noFill/>
        </p:spPr>
        <p:txBody>
          <a:bodyPr wrap="square">
            <a:spAutoFit/>
          </a:bodyPr>
          <a:lstStyle/>
          <a:p>
            <a:pPr algn="ctr"/>
            <a:r>
              <a:rPr sz="2800" b="1" i="0">
                <a:solidFill>
                  <a:srgbClr val="37863A"/>
                </a:solidFill>
              </a:rPr>
              <a:t>→</a:t>
            </a:r>
          </a:p>
        </p:txBody>
      </p:sp>
      <p:sp>
        <p:nvSpPr>
          <p:cNvPr id="22" name="TextBox 21"/>
          <p:cNvSpPr txBox="1"/>
          <p:nvPr/>
        </p:nvSpPr>
        <p:spPr>
          <a:xfrm>
            <a:off x="8430768" y="1993392"/>
            <a:ext cx="548640" cy="228600"/>
          </a:xfrm>
          <a:prstGeom prst="rect">
            <a:avLst/>
          </a:prstGeom>
          <a:noFill/>
        </p:spPr>
        <p:txBody>
          <a:bodyPr wrap="square">
            <a:spAutoFit/>
          </a:bodyPr>
          <a:lstStyle/>
          <a:p>
            <a:pPr algn="l"/>
            <a:r>
              <a:rPr sz="900" b="0" i="1">
                <a:solidFill>
                  <a:srgbClr val="37863A"/>
                </a:solidFill>
              </a:rPr>
              <a:t>decode</a:t>
            </a:r>
          </a:p>
        </p:txBody>
      </p:sp>
      <p:sp>
        <p:nvSpPr>
          <p:cNvPr id="23" name="Rectangle 22"/>
          <p:cNvSpPr/>
          <p:nvPr/>
        </p:nvSpPr>
        <p:spPr>
          <a:xfrm>
            <a:off x="8961120" y="1097280"/>
            <a:ext cx="2468880" cy="347472"/>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15984" y="1133856"/>
            <a:ext cx="2359152" cy="274320"/>
          </a:xfrm>
          <a:prstGeom prst="rect">
            <a:avLst/>
          </a:prstGeom>
          <a:noFill/>
        </p:spPr>
        <p:txBody>
          <a:bodyPr wrap="square">
            <a:spAutoFit/>
          </a:bodyPr>
          <a:lstStyle/>
          <a:p>
            <a:pPr algn="ctr"/>
            <a:r>
              <a:rPr sz="1200" b="1" i="0">
                <a:solidFill>
                  <a:srgbClr val="FFFFFF"/>
                </a:solidFill>
              </a:rPr>
              <a:t>④ DECODER</a:t>
            </a:r>
          </a:p>
          <a:p>
            <a:pPr algn="ctr"/>
            <a:r>
              <a:rPr sz="1200" b="1" i="0">
                <a:solidFill>
                  <a:srgbClr val="FFFFFF"/>
                </a:solidFill>
              </a:rPr>
              <a:t>(FeedForward Net)</a:t>
            </a:r>
          </a:p>
        </p:txBody>
      </p:sp>
      <p:sp>
        <p:nvSpPr>
          <p:cNvPr id="25" name="Rectangle 24"/>
          <p:cNvSpPr/>
          <p:nvPr/>
        </p:nvSpPr>
        <p:spPr>
          <a:xfrm>
            <a:off x="8961120" y="1444752"/>
            <a:ext cx="2468880" cy="2258568"/>
          </a:xfrm>
          <a:prstGeom prst="rect">
            <a:avLst/>
          </a:prstGeom>
          <a:solidFill>
            <a:srgbClr val="F2F6FF"/>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15984" y="1481328"/>
            <a:ext cx="2359152" cy="2148840"/>
          </a:xfrm>
          <a:prstGeom prst="rect">
            <a:avLst/>
          </a:prstGeom>
          <a:noFill/>
        </p:spPr>
        <p:txBody>
          <a:bodyPr wrap="square">
            <a:spAutoFit/>
          </a:bodyPr>
          <a:lstStyle/>
          <a:p>
            <a:pPr algn="ctr"/>
            <a:r>
              <a:rPr sz="950" b="0" i="0">
                <a:solidFill>
                  <a:srgbClr val="404040"/>
                </a:solidFill>
              </a:rPr>
              <a:t>Takes z + orientation</a:t>
            </a:r>
          </a:p>
          <a:p>
            <a:pPr algn="ctr"/>
            <a:r>
              <a:rPr sz="950" b="0" i="0">
                <a:solidFill>
                  <a:srgbClr val="404040"/>
                </a:solidFill>
              </a:rPr>
              <a:t>Predicts what the particle</a:t>
            </a:r>
          </a:p>
          <a:p>
            <a:pPr algn="ctr"/>
            <a:r>
              <a:rPr sz="950" b="0" i="0">
                <a:solidFill>
                  <a:srgbClr val="404040"/>
                </a:solidFill>
              </a:rPr>
              <a:t>image SHOULD look like</a:t>
            </a:r>
          </a:p>
          <a:p>
            <a:pPr algn="ctr"/>
            <a:r>
              <a:rPr sz="950" b="0" i="0">
                <a:solidFill>
                  <a:srgbClr val="404040"/>
                </a:solidFill>
              </a:rPr>
              <a:t/>
            </a:r>
          </a:p>
          <a:p>
            <a:pPr algn="ctr"/>
            <a:r>
              <a:rPr sz="950" b="0" i="0">
                <a:solidFill>
                  <a:srgbClr val="404040"/>
                </a:solidFill>
              </a:rPr>
              <a:t>Trained to match</a:t>
            </a:r>
          </a:p>
          <a:p>
            <a:pPr algn="ctr"/>
            <a:r>
              <a:rPr sz="950" b="0" i="0">
                <a:solidFill>
                  <a:srgbClr val="404040"/>
                </a:solidFill>
              </a:rPr>
              <a:t>the real input image</a:t>
            </a:r>
          </a:p>
          <a:p>
            <a:pPr algn="ctr"/>
            <a:r>
              <a:rPr sz="950" b="0" i="0">
                <a:solidFill>
                  <a:srgbClr val="404040"/>
                </a:solidFill>
              </a:rPr>
              <a:t/>
            </a:r>
          </a:p>
          <a:p>
            <a:pPr algn="ctr"/>
            <a:r>
              <a:rPr sz="950" b="0" i="0">
                <a:solidFill>
                  <a:srgbClr val="404040"/>
                </a:solidFill>
              </a:rPr>
              <a:t>Validates the encoding</a:t>
            </a:r>
          </a:p>
        </p:txBody>
      </p:sp>
      <p:sp>
        <p:nvSpPr>
          <p:cNvPr id="27" name="Rectangle 26"/>
          <p:cNvSpPr/>
          <p:nvPr/>
        </p:nvSpPr>
        <p:spPr>
          <a:xfrm>
            <a:off x="182880" y="3840480"/>
            <a:ext cx="11795760" cy="777240"/>
          </a:xfrm>
          <a:prstGeom prst="rect">
            <a:avLst/>
          </a:prstGeom>
          <a:solidFill>
            <a:srgbClr val="E8EEFF"/>
          </a:solidFill>
          <a:ln>
            <a:solidFill>
              <a:srgbClr val="1A3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95344"/>
            <a:ext cx="5029200" cy="256032"/>
          </a:xfrm>
          <a:prstGeom prst="rect">
            <a:avLst/>
          </a:prstGeom>
          <a:noFill/>
        </p:spPr>
        <p:txBody>
          <a:bodyPr wrap="square">
            <a:spAutoFit/>
          </a:bodyPr>
          <a:lstStyle/>
          <a:p>
            <a:pPr algn="l"/>
            <a:r>
              <a:rPr sz="1300" b="1" i="0">
                <a:solidFill>
                  <a:srgbClr val="1A3A6C"/>
                </a:solidFill>
              </a:rPr>
              <a:t>Training objective (ELBO loss function):</a:t>
            </a:r>
          </a:p>
        </p:txBody>
      </p:sp>
      <p:sp>
        <p:nvSpPr>
          <p:cNvPr id="29" name="TextBox 28"/>
          <p:cNvSpPr txBox="1"/>
          <p:nvPr/>
        </p:nvSpPr>
        <p:spPr>
          <a:xfrm>
            <a:off x="320040" y="4169663"/>
            <a:ext cx="7772400" cy="384048"/>
          </a:xfrm>
          <a:prstGeom prst="rect">
            <a:avLst/>
          </a:prstGeom>
          <a:noFill/>
        </p:spPr>
        <p:txBody>
          <a:bodyPr wrap="square">
            <a:spAutoFit/>
          </a:bodyPr>
          <a:lstStyle/>
          <a:p>
            <a:pPr algn="l"/>
            <a:r>
              <a:rPr sz="1500" b="1" i="0">
                <a:solidFill>
                  <a:srgbClr val="1A3A6C"/>
                </a:solidFill>
              </a:rPr>
              <a:t>ℒ = 𝔼[log p(image | z)] − β · KL( q(z | image) ‖ p(z) )</a:t>
            </a:r>
          </a:p>
        </p:txBody>
      </p:sp>
      <p:sp>
        <p:nvSpPr>
          <p:cNvPr id="30" name="TextBox 29"/>
          <p:cNvSpPr txBox="1"/>
          <p:nvPr/>
        </p:nvSpPr>
        <p:spPr>
          <a:xfrm>
            <a:off x="320040" y="4343400"/>
            <a:ext cx="7772400" cy="256032"/>
          </a:xfrm>
          <a:prstGeom prst="rect">
            <a:avLst/>
          </a:prstGeom>
          <a:noFill/>
        </p:spPr>
        <p:txBody>
          <a:bodyPr wrap="square">
            <a:spAutoFit/>
          </a:bodyPr>
          <a:lstStyle/>
          <a:p>
            <a:pPr algn="l"/>
            <a:r>
              <a:rPr sz="1000" b="0" i="1">
                <a:solidFill>
                  <a:srgbClr val="404040"/>
                </a:solidFill>
              </a:rPr>
              <a:t>← reconstruction quality                 ← keeps z-space organized</a:t>
            </a:r>
          </a:p>
        </p:txBody>
      </p:sp>
      <p:sp>
        <p:nvSpPr>
          <p:cNvPr id="31" name="Rectangle 30"/>
          <p:cNvSpPr/>
          <p:nvPr/>
        </p:nvSpPr>
        <p:spPr>
          <a:xfrm>
            <a:off x="8366760" y="3840480"/>
            <a:ext cx="3611880" cy="777240"/>
          </a:xfrm>
          <a:prstGeom prst="rect">
            <a:avLst/>
          </a:prstGeom>
          <a:solidFill>
            <a:srgbClr val="E0FFE8"/>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58200" y="3895344"/>
            <a:ext cx="3429000" cy="685800"/>
          </a:xfrm>
          <a:prstGeom prst="rect">
            <a:avLst/>
          </a:prstGeom>
          <a:noFill/>
        </p:spPr>
        <p:txBody>
          <a:bodyPr wrap="square">
            <a:spAutoFit/>
          </a:bodyPr>
          <a:lstStyle/>
          <a:p>
            <a:pPr algn="l"/>
            <a:r>
              <a:rPr sz="1200" b="1" i="0">
                <a:solidFill>
                  <a:srgbClr val="37863A"/>
                </a:solidFill>
              </a:rPr>
              <a:t>Result: each particle has a unique</a:t>
            </a:r>
          </a:p>
          <a:p>
            <a:pPr algn="l"/>
            <a:r>
              <a:rPr sz="1200" b="1" i="0">
                <a:solidFill>
                  <a:srgbClr val="37863A"/>
                </a:solidFill>
              </a:rPr>
              <a:t>latent coordinate z after training</a:t>
            </a:r>
          </a:p>
        </p:txBody>
      </p:sp>
      <p:sp>
        <p:nvSpPr>
          <p:cNvPr id="33" name="Rectangle 32"/>
          <p:cNvSpPr/>
          <p:nvPr/>
        </p:nvSpPr>
        <p:spPr>
          <a:xfrm>
            <a:off x="182880" y="4754880"/>
            <a:ext cx="11795760" cy="777240"/>
          </a:xfrm>
          <a:prstGeom prst="rect">
            <a:avLst/>
          </a:prstGeom>
          <a:solidFill>
            <a:srgbClr val="FFF8E0"/>
          </a:solidFill>
          <a:ln>
            <a:solidFill>
              <a:srgbClr val="B892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4800600"/>
            <a:ext cx="11521440" cy="685800"/>
          </a:xfrm>
          <a:prstGeom prst="rect">
            <a:avLst/>
          </a:prstGeom>
          <a:noFill/>
        </p:spPr>
        <p:txBody>
          <a:bodyPr wrap="square">
            <a:spAutoFit/>
          </a:bodyPr>
          <a:lstStyle/>
          <a:p>
            <a:pPr algn="l"/>
            <a:r>
              <a:rPr sz="1200" b="0" i="0">
                <a:solidFill>
                  <a:srgbClr val="605000"/>
                </a:solidFill>
              </a:rPr>
              <a:t>GPS ANALOGY: think of z as a GPS coordinate for protein shape — 10 numbers specify WHERE on a conformational map each particle sits.</a:t>
            </a:r>
          </a:p>
          <a:p>
            <a:pPr algn="l"/>
            <a:r>
              <a:rPr sz="1200" b="0" i="0">
                <a:solidFill>
                  <a:srgbClr val="605000"/>
                </a:solidFill>
              </a:rPr>
              <a:t>Nearby coordinates = similar shapes. PCA collapses 10-D to 2-D for visualization (like flattening a globe onto paper).</a:t>
            </a:r>
          </a:p>
        </p:txBody>
      </p:sp>
      <p:sp>
        <p:nvSpPr>
          <p:cNvPr id="35" name="Rectangle 34"/>
          <p:cNvSpPr/>
          <p:nvPr/>
        </p:nvSpPr>
        <p:spPr>
          <a:xfrm>
            <a:off x="182880" y="5623560"/>
            <a:ext cx="11795760" cy="777240"/>
          </a:xfrm>
          <a:prstGeom prst="rect">
            <a:avLst/>
          </a:prstGeom>
          <a:solidFill>
            <a:srgbClr val="F0F0F0"/>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5669280"/>
            <a:ext cx="11521440" cy="685800"/>
          </a:xfrm>
          <a:prstGeom prst="rect">
            <a:avLst/>
          </a:prstGeom>
          <a:noFill/>
        </p:spPr>
        <p:txBody>
          <a:bodyPr wrap="square">
            <a:spAutoFit/>
          </a:bodyPr>
          <a:lstStyle/>
          <a:p>
            <a:pPr algn="l"/>
            <a:r>
              <a:rPr sz="1100" b="0" i="1">
                <a:solidFill>
                  <a:srgbClr val="404040"/>
                </a:solidFill>
              </a:rPr>
              <a:t>CAVEAT: initial 3D orientations (poses) come from CryoSPARC — one indirect dependency.</a:t>
            </a:r>
          </a:p>
          <a:p>
            <a:pPr algn="l"/>
            <a:r>
              <a:rPr sz="1100" b="0" i="1">
                <a:solidFill>
                  <a:srgbClr val="404040"/>
                </a:solidFill>
              </a:rPr>
              <a:t>MITIGATION: both methods (CryoSPARC + cryoDRGN) find the same 3 states independently → the result is not an artifact of the pose input.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cryoDRGN D=256: 3 States Cleanly Separated in the Latent Space</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J1442 fullset, D=256, zdim=10, 100 epochs — converged (loss change &lt;0.01%/epoch)</a:t>
            </a:r>
          </a:p>
        </p:txBody>
      </p:sp>
      <p:pic>
        <p:nvPicPr>
          <p:cNvPr id="5" name="Picture 4" descr="z_pca_marginals.png"/>
          <p:cNvPicPr>
            <a:picLocks noChangeAspect="1"/>
          </p:cNvPicPr>
          <p:nvPr/>
        </p:nvPicPr>
        <p:blipFill>
          <a:blip r:embed="rId2"/>
          <a:stretch>
            <a:fillRect/>
          </a:stretch>
        </p:blipFill>
        <p:spPr>
          <a:xfrm>
            <a:off x="182880" y="1051560"/>
            <a:ext cx="4892040" cy="4892040"/>
          </a:xfrm>
          <a:prstGeom prst="rect">
            <a:avLst/>
          </a:prstGeom>
        </p:spPr>
      </p:pic>
      <p:pic>
        <p:nvPicPr>
          <p:cNvPr id="6" name="Picture 5" descr="panel_A_landscape.png"/>
          <p:cNvPicPr>
            <a:picLocks noChangeAspect="1"/>
          </p:cNvPicPr>
          <p:nvPr/>
        </p:nvPicPr>
        <p:blipFill>
          <a:blip r:embed="rId3"/>
          <a:stretch>
            <a:fillRect/>
          </a:stretch>
        </p:blipFill>
        <p:spPr>
          <a:xfrm>
            <a:off x="4800600" y="1051560"/>
            <a:ext cx="5074920" cy="4440555"/>
          </a:xfrm>
          <a:prstGeom prst="rect">
            <a:avLst/>
          </a:prstGeom>
        </p:spPr>
      </p:pic>
      <p:pic>
        <p:nvPicPr>
          <p:cNvPr id="7" name="Picture 6" descr="confusion.png"/>
          <p:cNvPicPr>
            <a:picLocks noChangeAspect="1"/>
          </p:cNvPicPr>
          <p:nvPr/>
        </p:nvPicPr>
        <p:blipFill>
          <a:blip r:embed="rId4"/>
          <a:stretch>
            <a:fillRect/>
          </a:stretch>
        </p:blipFill>
        <p:spPr>
          <a:xfrm>
            <a:off x="9921240" y="1051560"/>
            <a:ext cx="2084831" cy="1681261"/>
          </a:xfrm>
          <a:prstGeom prst="rect">
            <a:avLst/>
          </a:prstGeom>
        </p:spPr>
      </p:pic>
      <p:sp>
        <p:nvSpPr>
          <p:cNvPr id="8" name="Rectangle 7"/>
          <p:cNvSpPr/>
          <p:nvPr/>
        </p:nvSpPr>
        <p:spPr>
          <a:xfrm>
            <a:off x="182880" y="6007608"/>
            <a:ext cx="457200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 y="6053328"/>
            <a:ext cx="4425696" cy="713232"/>
          </a:xfrm>
          <a:prstGeom prst="rect">
            <a:avLst/>
          </a:prstGeom>
          <a:noFill/>
        </p:spPr>
        <p:txBody>
          <a:bodyPr wrap="square">
            <a:spAutoFit/>
          </a:bodyPr>
          <a:lstStyle/>
          <a:p>
            <a:pPr algn="l"/>
            <a:r>
              <a:rPr sz="1000" b="0" i="1">
                <a:solidFill>
                  <a:srgbClr val="404040"/>
                </a:solidFill>
              </a:rPr>
              <a:t>LEFT: Raw PCA of the 10-D latent (cryoDRGN analyze output).</a:t>
            </a:r>
          </a:p>
          <a:p>
            <a:pPr algn="l"/>
            <a:r>
              <a:rPr sz="1000" b="0" i="1">
                <a:solidFill>
                  <a:srgbClr val="404040"/>
                </a:solidFill>
              </a:rPr>
              <a:t>Each dot = 1 particle. 3 blobs visible. No supervision given.</a:t>
            </a:r>
          </a:p>
          <a:p>
            <a:pPr algn="l"/>
            <a:r>
              <a:rPr sz="1000" b="0" i="1">
                <a:solidFill>
                  <a:srgbClr val="404040"/>
                </a:solidFill>
              </a:rPr>
              <a:t>PC1 = 23.5%, PC2 = 15.9% of latent variance.</a:t>
            </a:r>
          </a:p>
        </p:txBody>
      </p:sp>
      <p:sp>
        <p:nvSpPr>
          <p:cNvPr id="10" name="Rectangle 9"/>
          <p:cNvSpPr/>
          <p:nvPr/>
        </p:nvSpPr>
        <p:spPr>
          <a:xfrm>
            <a:off x="4800600" y="6007608"/>
            <a:ext cx="507492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73752" y="6053328"/>
            <a:ext cx="4928616" cy="713232"/>
          </a:xfrm>
          <a:prstGeom prst="rect">
            <a:avLst/>
          </a:prstGeom>
          <a:noFill/>
        </p:spPr>
        <p:txBody>
          <a:bodyPr wrap="square">
            <a:spAutoFit/>
          </a:bodyPr>
          <a:lstStyle/>
          <a:p>
            <a:pPr algn="l"/>
            <a:r>
              <a:rPr sz="1000" b="0" i="1">
                <a:solidFill>
                  <a:srgbClr val="404040"/>
                </a:solidFill>
              </a:rPr>
              <a:t>CENTRE: K=3 GMM fit in full 10-D latent, visualized on PC1-PC2 plane.</a:t>
            </a:r>
          </a:p>
          <a:p>
            <a:pPr algn="l"/>
            <a:r>
              <a:rPr sz="1000" b="0" i="1">
                <a:solidFill>
                  <a:srgbClr val="404040"/>
                </a:solidFill>
              </a:rPr>
              <a:t>Ellipses = 1σ/2σ per class; ⭐ = class mean in 2D projection.</a:t>
            </a:r>
          </a:p>
          <a:p>
            <a:pPr algn="l"/>
            <a:r>
              <a:rPr sz="1000" b="0" i="1">
                <a:solidFill>
                  <a:srgbClr val="404040"/>
                </a:solidFill>
              </a:rPr>
              <a:t>Min GMM separation = 2.60 SD  (&gt;2 SD = genuinely distinct classes!)</a:t>
            </a:r>
          </a:p>
          <a:p>
            <a:pPr algn="l"/>
            <a:r>
              <a:rPr sz="1000" b="0" i="1">
                <a:solidFill>
                  <a:srgbClr val="404040"/>
                </a:solidFill>
              </a:rPr>
              <a:t>Labels = biological names (NBD1LessMix-Ablated, VshapedMix, etc.)</a:t>
            </a:r>
          </a:p>
        </p:txBody>
      </p:sp>
      <p:sp>
        <p:nvSpPr>
          <p:cNvPr id="12" name="Rectangle 11"/>
          <p:cNvSpPr/>
          <p:nvPr/>
        </p:nvSpPr>
        <p:spPr>
          <a:xfrm>
            <a:off x="9921240" y="5074920"/>
            <a:ext cx="2084831" cy="173736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94392" y="5120640"/>
            <a:ext cx="1938527" cy="1645919"/>
          </a:xfrm>
          <a:prstGeom prst="rect">
            <a:avLst/>
          </a:prstGeom>
          <a:noFill/>
        </p:spPr>
        <p:txBody>
          <a:bodyPr wrap="square">
            <a:spAutoFit/>
          </a:bodyPr>
          <a:lstStyle/>
          <a:p>
            <a:pPr algn="l"/>
            <a:r>
              <a:rPr sz="1000" b="0" i="1">
                <a:solidFill>
                  <a:srgbClr val="404040"/>
                </a:solidFill>
              </a:rPr>
              <a:t>RIGHT: Cross-method agreement.</a:t>
            </a:r>
          </a:p>
          <a:p>
            <a:pPr algn="l"/>
            <a:r>
              <a:rPr sz="1000" b="0" i="1">
                <a:solidFill>
                  <a:srgbClr val="404040"/>
                </a:solidFill>
              </a:rPr>
              <a:t>CryoSPARC class (row) vs cryoDRGN</a:t>
            </a:r>
          </a:p>
          <a:p>
            <a:pPr algn="l"/>
            <a:r>
              <a:rPr sz="1000" b="0" i="1">
                <a:solidFill>
                  <a:srgbClr val="404040"/>
                </a:solidFill>
              </a:rPr>
              <a:t>latent hard assignment (col).</a:t>
            </a:r>
          </a:p>
          <a:p>
            <a:pPr algn="l"/>
            <a:r>
              <a:rPr sz="1000" b="0" i="1">
                <a:solidFill>
                  <a:srgbClr val="404040"/>
                </a:solidFill>
              </a:rPr>
              <a:t>81.2% overall agreement (vs 33%</a:t>
            </a:r>
          </a:p>
          <a:p>
            <a:pPr algn="l"/>
            <a:r>
              <a:rPr sz="1000" b="0" i="1">
                <a:solidFill>
                  <a:srgbClr val="404040"/>
                </a:solidFill>
              </a:rPr>
              <a:t>random baseline for 3 classes).</a:t>
            </a:r>
          </a:p>
          <a:p>
            <a:pPr algn="l"/>
            <a:r>
              <a:rPr sz="1000" b="0" i="1">
                <a:solidFill>
                  <a:srgbClr val="404040"/>
                </a:solidFill>
              </a:rPr>
              <a:t>Both methods are independent —</a:t>
            </a:r>
          </a:p>
          <a:p>
            <a:pPr algn="l"/>
            <a:r>
              <a:rPr sz="1000" b="0" i="1">
                <a:solidFill>
                  <a:srgbClr val="404040"/>
                </a:solidFill>
              </a:rPr>
              <a:t>neither is ground truth.</a:t>
            </a:r>
          </a:p>
        </p:txBody>
      </p:sp>
      <p:sp>
        <p:nvSpPr>
          <p:cNvPr id="14" name="Rectangle 13"/>
          <p:cNvSpPr/>
          <p:nvPr/>
        </p:nvSpPr>
        <p:spPr>
          <a:xfrm>
            <a:off x="182880" y="6748272"/>
            <a:ext cx="11795760" cy="9144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766560"/>
            <a:ext cx="11521440" cy="91440"/>
          </a:xfrm>
          <a:prstGeom prst="rect">
            <a:avLst/>
          </a:prstGeom>
          <a:noFill/>
        </p:spPr>
        <p:txBody>
          <a:bodyPr wrap="square">
            <a:spAutoFit/>
          </a:bodyPr>
          <a:lstStyle/>
          <a:p>
            <a:pPr algn="ctr"/>
            <a:r>
              <a:rPr sz="1100" b="1" i="0">
                <a:solidFill>
                  <a:srgbClr val="FFFFFF"/>
                </a:solidFill>
              </a:rPr>
              <a:t>Same 3 classes as CryoSPARC — found WITHOUT reference maps. Cross-method agreement 81% (vs 33% random) = independent validation; neither method is ground truth.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Lower-Resolution Model (D=128): 3 Peaks in PC1 + Free-Energy Basins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Complementary view from D=128 z10 100ep fullset — lower-parameter model than slide 9</a:t>
            </a:r>
          </a:p>
        </p:txBody>
      </p:sp>
      <p:pic>
        <p:nvPicPr>
          <p:cNvPr id="5" name="Picture 4" descr="panel_D_pc1_marginal.png"/>
          <p:cNvPicPr>
            <a:picLocks noChangeAspect="1"/>
          </p:cNvPicPr>
          <p:nvPr/>
        </p:nvPicPr>
        <p:blipFill>
          <a:blip r:embed="rId2"/>
          <a:stretch>
            <a:fillRect/>
          </a:stretch>
        </p:blipFill>
        <p:spPr>
          <a:xfrm>
            <a:off x="182880" y="1051560"/>
            <a:ext cx="5303520" cy="3314700"/>
          </a:xfrm>
          <a:prstGeom prst="rect">
            <a:avLst/>
          </a:prstGeom>
        </p:spPr>
      </p:pic>
      <p:pic>
        <p:nvPicPr>
          <p:cNvPr id="6" name="Picture 5" descr="basin_occupancy_J1442x5.png"/>
          <p:cNvPicPr>
            <a:picLocks noChangeAspect="1"/>
          </p:cNvPicPr>
          <p:nvPr/>
        </p:nvPicPr>
        <p:blipFill>
          <a:blip r:embed="rId3"/>
          <a:stretch>
            <a:fillRect/>
          </a:stretch>
        </p:blipFill>
        <p:spPr>
          <a:xfrm>
            <a:off x="5577840" y="1051560"/>
            <a:ext cx="6400800" cy="5120640"/>
          </a:xfrm>
          <a:prstGeom prst="rect">
            <a:avLst/>
          </a:prstGeom>
        </p:spPr>
      </p:pic>
      <p:sp>
        <p:nvSpPr>
          <p:cNvPr id="7" name="Rectangle 6"/>
          <p:cNvSpPr/>
          <p:nvPr/>
        </p:nvSpPr>
        <p:spPr>
          <a:xfrm>
            <a:off x="182880" y="6007608"/>
            <a:ext cx="530352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6053328"/>
            <a:ext cx="5157216" cy="713232"/>
          </a:xfrm>
          <a:prstGeom prst="rect">
            <a:avLst/>
          </a:prstGeom>
          <a:noFill/>
        </p:spPr>
        <p:txBody>
          <a:bodyPr wrap="square">
            <a:spAutoFit/>
          </a:bodyPr>
          <a:lstStyle/>
          <a:p>
            <a:pPr algn="l"/>
            <a:r>
              <a:rPr sz="1000" b="0" i="1">
                <a:solidFill>
                  <a:srgbClr val="404040"/>
                </a:solidFill>
              </a:rPr>
              <a:t>LEFT: PC1 marginal density (D=128 model).</a:t>
            </a:r>
          </a:p>
          <a:p>
            <a:pPr algn="l"/>
            <a:r>
              <a:rPr sz="1000" b="0" i="1">
                <a:solidFill>
                  <a:srgbClr val="404040"/>
                </a:solidFill>
              </a:rPr>
              <a:t>Three clear peaks along PC1 → P6, P7, P8.</a:t>
            </a:r>
          </a:p>
          <a:p>
            <a:pPr algn="l"/>
            <a:r>
              <a:rPr sz="1000" b="0" i="1">
                <a:solidFill>
                  <a:srgbClr val="404040"/>
                </a:solidFill>
              </a:rPr>
              <a:t>Each bell = 1-D GMM fitted directly to PC1 scores.</a:t>
            </a:r>
          </a:p>
          <a:p>
            <a:pPr algn="l"/>
            <a:r>
              <a:rPr sz="1000" b="0" i="1">
                <a:solidFill>
                  <a:srgbClr val="404040"/>
                </a:solidFill>
              </a:rPr>
              <a:t>At D=128, the dominant 3-state variation</a:t>
            </a:r>
          </a:p>
          <a:p>
            <a:pPr algn="l"/>
            <a:r>
              <a:rPr sz="1000" b="0" i="1">
                <a:solidFill>
                  <a:srgbClr val="404040"/>
                </a:solidFill>
              </a:rPr>
              <a:t>is concentrated into PC1 (lower-res = more compression).</a:t>
            </a:r>
          </a:p>
        </p:txBody>
      </p:sp>
      <p:sp>
        <p:nvSpPr>
          <p:cNvPr id="9" name="Rectangle 8"/>
          <p:cNvSpPr/>
          <p:nvPr/>
        </p:nvSpPr>
        <p:spPr>
          <a:xfrm>
            <a:off x="5577840" y="6007608"/>
            <a:ext cx="640080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50992" y="6053328"/>
            <a:ext cx="6254496" cy="713232"/>
          </a:xfrm>
          <a:prstGeom prst="rect">
            <a:avLst/>
          </a:prstGeom>
          <a:noFill/>
        </p:spPr>
        <p:txBody>
          <a:bodyPr wrap="square">
            <a:spAutoFit/>
          </a:bodyPr>
          <a:lstStyle/>
          <a:p>
            <a:pPr algn="l"/>
            <a:r>
              <a:rPr sz="1000" b="0" i="1">
                <a:solidFill>
                  <a:srgbClr val="404040"/>
                </a:solidFill>
              </a:rPr>
              <a:t>RIGHT: 2D free-energy basin analysis F(PC1,PC2) = -log[probability density].</a:t>
            </a:r>
          </a:p>
          <a:p>
            <a:pPr algn="l"/>
            <a:r>
              <a:rPr sz="1000" b="0" i="1">
                <a:solidFill>
                  <a:srgbClr val="404040"/>
                </a:solidFill>
              </a:rPr>
              <a:t>A: 3 energy wells (⭐=minima; bright yellow=stable, dark=unstable/unpopulated).</a:t>
            </a:r>
          </a:p>
          <a:p>
            <a:pPr algn="l"/>
            <a:r>
              <a:rPr sz="1000" b="0" i="1">
                <a:solidFill>
                  <a:srgbClr val="404040"/>
                </a:solidFill>
              </a:rPr>
              <a:t>B: Watershed boundaries — 3 coloured basins, each capturing one CryoSPARC class.</a:t>
            </a:r>
          </a:p>
          <a:p>
            <a:pPr algn="l"/>
            <a:r>
              <a:rPr sz="1000" b="0" i="1">
                <a:solidFill>
                  <a:srgbClr val="404040"/>
                </a:solidFill>
              </a:rPr>
              <a:t>C: Occupancy matrix — P6→Basin1 (91%), P7→Basin2 (69%), P8→Basin3 (85%).</a:t>
            </a:r>
          </a:p>
          <a:p>
            <a:pPr algn="l"/>
            <a:r>
              <a:rPr sz="1000" b="0" i="1">
                <a:solidFill>
                  <a:srgbClr val="404040"/>
                </a:solidFill>
              </a:rPr>
              <a:t>D: Basin count = 3 is stable across 0.5–1.3 kT barrier thresholds (robust!).</a:t>
            </a:r>
          </a:p>
        </p:txBody>
      </p:sp>
      <p:sp>
        <p:nvSpPr>
          <p:cNvPr id="11" name="Rectangle 10"/>
          <p:cNvSpPr/>
          <p:nvPr/>
        </p:nvSpPr>
        <p:spPr>
          <a:xfrm>
            <a:off x="182880" y="6766560"/>
            <a:ext cx="11795760" cy="73152"/>
          </a:xfrm>
          <a:prstGeom prst="rect">
            <a:avLst/>
          </a:prstGeom>
          <a:solidFill>
            <a:srgbClr val="105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784848"/>
            <a:ext cx="11521440" cy="73152"/>
          </a:xfrm>
          <a:prstGeom prst="rect">
            <a:avLst/>
          </a:prstGeom>
          <a:noFill/>
        </p:spPr>
        <p:txBody>
          <a:bodyPr wrap="square">
            <a:spAutoFit/>
          </a:bodyPr>
          <a:lstStyle/>
          <a:p>
            <a:pPr algn="ctr"/>
            <a:r>
              <a:rPr sz="1000" b="1" i="0">
                <a:solidFill>
                  <a:srgbClr val="FFFFFF"/>
                </a:solidFill>
              </a:rPr>
              <a:t>Why does D=128 show clearer PC1 separation while D=256 shows better multi-dimensional GMM? → see notes for explanation.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The 5-Class Challenge: P9 &amp; P10 Are Substates, Not Independent States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Most updated D=256 analysis — CryoSPARC finds 5; cryoDRGN cleanly separates only 3</a:t>
            </a:r>
          </a:p>
        </p:txBody>
      </p:sp>
      <p:pic>
        <p:nvPicPr>
          <p:cNvPr id="5" name="Picture 4" descr="confusion.png"/>
          <p:cNvPicPr>
            <a:picLocks noChangeAspect="1"/>
          </p:cNvPicPr>
          <p:nvPr/>
        </p:nvPicPr>
        <p:blipFill>
          <a:blip r:embed="rId2"/>
          <a:stretch>
            <a:fillRect/>
          </a:stretch>
        </p:blipFill>
        <p:spPr>
          <a:xfrm>
            <a:off x="182880" y="1051560"/>
            <a:ext cx="6903720" cy="5703073"/>
          </a:xfrm>
          <a:prstGeom prst="rect">
            <a:avLst/>
          </a:prstGeom>
        </p:spPr>
      </p:pic>
      <p:sp>
        <p:nvSpPr>
          <p:cNvPr id="6" name="TextBox 5"/>
          <p:cNvSpPr txBox="1"/>
          <p:nvPr/>
        </p:nvSpPr>
        <p:spPr>
          <a:xfrm>
            <a:off x="7223760" y="1051560"/>
            <a:ext cx="4754880" cy="5394960"/>
          </a:xfrm>
          <a:prstGeom prst="rect">
            <a:avLst/>
          </a:prstGeom>
          <a:noFill/>
        </p:spPr>
        <p:txBody>
          <a:bodyPr wrap="square">
            <a:spAutoFit/>
          </a:bodyPr>
          <a:lstStyle/>
          <a:p>
            <a:r>
              <a:rPr sz="1400">
                <a:solidFill>
                  <a:srgbClr val="404040"/>
                </a:solidFill>
              </a:rPr>
              <a:t>▸ CryoSPARC J1497 (K=5, same 230k particles): adds P9 &amp; P10</a:t>
            </a:r>
          </a:p>
          <a:p>
            <a:r>
              <a:rPr sz="1300">
                <a:solidFill>
                  <a:srgbClr val="404040"/>
                </a:solidFill>
              </a:rPr>
              <a:t>      • P9 = NBD2Less-Ablated  |  P10 = AltNBD1-ArdeconComposite-Ablated</a:t>
            </a:r>
          </a:p>
          <a:p>
            <a:r>
              <a:rPr sz="1400">
                <a:solidFill>
                  <a:srgbClr val="404040"/>
                </a:solidFill>
              </a:rPr>
              <a:t>▸ cryoDRGN K=5 GMM in D=256 latent: min sep = 0.79 SD</a:t>
            </a:r>
          </a:p>
          <a:p>
            <a:r>
              <a:rPr sz="1300">
                <a:solidFill>
                  <a:srgbClr val="404040"/>
                </a:solidFill>
              </a:rPr>
              <a:t>      • Compare K=3 result: 2.60 SD — the 5th class is clearly NOT independent</a:t>
            </a:r>
          </a:p>
          <a:p>
            <a:r>
              <a:rPr sz="1400">
                <a:solidFill>
                  <a:srgbClr val="404040"/>
                </a:solidFill>
              </a:rPr>
              <a:t>▸ Confusion matrix (LEFT, most recent D=256 run):</a:t>
            </a:r>
          </a:p>
          <a:p>
            <a:r>
              <a:rPr sz="1300">
                <a:solidFill>
                  <a:srgbClr val="404040"/>
                </a:solidFill>
              </a:rPr>
              <a:t>      • 49% of CryoSPARC P10 → cryoDRGN assigns to P6 (NBD1LessMix)</a:t>
            </a:r>
          </a:p>
          <a:p>
            <a:r>
              <a:rPr sz="1300">
                <a:solidFill>
                  <a:srgbClr val="404040"/>
                </a:solidFill>
              </a:rPr>
              <a:t>      • 44% of CryoSPARC P9 → cryoDRGN assigns to P8 (VshapedMix)</a:t>
            </a:r>
          </a:p>
          <a:p>
            <a:r>
              <a:rPr sz="1400">
                <a:solidFill>
                  <a:srgbClr val="404040"/>
                </a:solidFill>
              </a:rPr>
              <a:t>▸ Conclusion: P10 ≈ P6 and P9 ≈ P8 in the neural network's view</a:t>
            </a:r>
          </a:p>
          <a:p>
            <a:r>
              <a:rPr sz="1300">
                <a:solidFill>
                  <a:srgbClr val="404040"/>
                </a:solidFill>
              </a:rPr>
              <a:t>      • P9/P10 are STRUCTURAL SUBSTATES — real but not energetically isolated</a:t>
            </a:r>
          </a:p>
          <a:p>
            <a:r>
              <a:rPr sz="1300">
                <a:solidFill>
                  <a:srgbClr val="404040"/>
                </a:solidFill>
              </a:rPr>
              <a:t>      • Likely differ only in one peripheral loop being ordered vs disordered</a:t>
            </a:r>
          </a:p>
          <a:p>
            <a:r>
              <a:rPr sz="1400">
                <a:solidFill>
                  <a:srgbClr val="404040"/>
                </a:solidFill>
              </a:rPr>
              <a:t>▸ Path forward: focused classification targeting NBD1/ICL4 regions</a:t>
            </a:r>
          </a:p>
          <a:p>
            <a:r>
              <a:rPr sz="1300">
                <a:solidFill>
                  <a:srgbClr val="404040"/>
                </a:solidFill>
              </a:rPr>
              <a:t>      • Standard: domain-masked heteroref K=2 within P6+P10 and P8+P9 subsets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J264: A 9-Class Dataset — Emerging Cluster Structure in D=256</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D=256, zdim=10, 50 epochs, 301,770 particles — converged (loss plateau &lt;0.003%/epoch)</a:t>
            </a:r>
          </a:p>
        </p:txBody>
      </p:sp>
      <p:pic>
        <p:nvPicPr>
          <p:cNvPr id="5" name="Picture 4" descr="z_pca_marginals.png"/>
          <p:cNvPicPr>
            <a:picLocks noChangeAspect="1"/>
          </p:cNvPicPr>
          <p:nvPr/>
        </p:nvPicPr>
        <p:blipFill>
          <a:blip r:embed="rId2"/>
          <a:stretch>
            <a:fillRect/>
          </a:stretch>
        </p:blipFill>
        <p:spPr>
          <a:xfrm>
            <a:off x="182880" y="1051560"/>
            <a:ext cx="4983480" cy="4983480"/>
          </a:xfrm>
          <a:prstGeom prst="rect">
            <a:avLst/>
          </a:prstGeom>
        </p:spPr>
      </p:pic>
      <p:pic>
        <p:nvPicPr>
          <p:cNvPr id="6" name="Picture 5" descr="panel_A_landscape.png"/>
          <p:cNvPicPr>
            <a:picLocks noChangeAspect="1"/>
          </p:cNvPicPr>
          <p:nvPr/>
        </p:nvPicPr>
        <p:blipFill>
          <a:blip r:embed="rId3"/>
          <a:stretch>
            <a:fillRect/>
          </a:stretch>
        </p:blipFill>
        <p:spPr>
          <a:xfrm>
            <a:off x="4343400" y="1051560"/>
            <a:ext cx="4206240" cy="3680460"/>
          </a:xfrm>
          <a:prstGeom prst="rect">
            <a:avLst/>
          </a:prstGeom>
        </p:spPr>
      </p:pic>
      <p:pic>
        <p:nvPicPr>
          <p:cNvPr id="7" name="Picture 6" descr="panel_A_landscape.png"/>
          <p:cNvPicPr>
            <a:picLocks noChangeAspect="1"/>
          </p:cNvPicPr>
          <p:nvPr/>
        </p:nvPicPr>
        <p:blipFill>
          <a:blip r:embed="rId4"/>
          <a:stretch>
            <a:fillRect/>
          </a:stretch>
        </p:blipFill>
        <p:spPr>
          <a:xfrm>
            <a:off x="8595360" y="1051560"/>
            <a:ext cx="3474720" cy="3040380"/>
          </a:xfrm>
          <a:prstGeom prst="rect">
            <a:avLst/>
          </a:prstGeom>
        </p:spPr>
      </p:pic>
      <p:sp>
        <p:nvSpPr>
          <p:cNvPr id="8" name="Rectangle 7"/>
          <p:cNvSpPr/>
          <p:nvPr/>
        </p:nvSpPr>
        <p:spPr>
          <a:xfrm>
            <a:off x="182880" y="6071616"/>
            <a:ext cx="411480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 y="6117336"/>
            <a:ext cx="3968496" cy="658368"/>
          </a:xfrm>
          <a:prstGeom prst="rect">
            <a:avLst/>
          </a:prstGeom>
          <a:noFill/>
        </p:spPr>
        <p:txBody>
          <a:bodyPr wrap="square">
            <a:spAutoFit/>
          </a:bodyPr>
          <a:lstStyle/>
          <a:p>
            <a:pPr algn="l"/>
            <a:r>
              <a:rPr sz="1000" b="0" i="1">
                <a:solidFill>
                  <a:srgbClr val="404040"/>
                </a:solidFill>
              </a:rPr>
              <a:t>LEFT: Raw PCA output (cryoDRGN analyze).</a:t>
            </a:r>
          </a:p>
          <a:p>
            <a:pPr algn="l"/>
            <a:r>
              <a:rPr sz="1000" b="0" i="1">
                <a:solidFill>
                  <a:srgbClr val="404040"/>
                </a:solidFill>
              </a:rPr>
              <a:t>4-6 distinguishable lobes; PC1=34%, PC2=28%.</a:t>
            </a:r>
          </a:p>
          <a:p>
            <a:pPr algn="l"/>
            <a:r>
              <a:rPr sz="1000" b="0" i="1">
                <a:solidFill>
                  <a:srgbClr val="404040"/>
                </a:solidFill>
              </a:rPr>
              <a:t>Ablated classes (domain-detached) form side-lobes.</a:t>
            </a:r>
          </a:p>
          <a:p>
            <a:pPr algn="l"/>
            <a:r>
              <a:rPr sz="1000" b="0" i="1">
                <a:solidFill>
                  <a:srgbClr val="404040"/>
                </a:solidFill>
              </a:rPr>
              <a:t>Much larger dataset → richer structure than J1442.</a:t>
            </a:r>
          </a:p>
        </p:txBody>
      </p:sp>
      <p:sp>
        <p:nvSpPr>
          <p:cNvPr id="10" name="Rectangle 9"/>
          <p:cNvSpPr/>
          <p:nvPr/>
        </p:nvSpPr>
        <p:spPr>
          <a:xfrm>
            <a:off x="4343400" y="6071616"/>
            <a:ext cx="420624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16552" y="6117336"/>
            <a:ext cx="4059935" cy="658368"/>
          </a:xfrm>
          <a:prstGeom prst="rect">
            <a:avLst/>
          </a:prstGeom>
          <a:noFill/>
        </p:spPr>
        <p:txBody>
          <a:bodyPr wrap="square">
            <a:spAutoFit/>
          </a:bodyPr>
          <a:lstStyle/>
          <a:p>
            <a:pPr algn="l"/>
            <a:r>
              <a:rPr sz="1000" b="0" i="1">
                <a:solidFill>
                  <a:srgbClr val="404040"/>
                </a:solidFill>
              </a:rPr>
              <a:t>CENTRE: K=9 GMM (matches CryoSPARC's 9 classes).</a:t>
            </a:r>
          </a:p>
          <a:p>
            <a:pPr algn="l"/>
            <a:r>
              <a:rPr sz="1000" b="0" i="1">
                <a:solidFill>
                  <a:srgbClr val="404040"/>
                </a:solidFill>
              </a:rPr>
              <a:t>Core states (SC/AC/AO) in blue tones — the clean NBD trajectory.</a:t>
            </a:r>
          </a:p>
          <a:p>
            <a:pPr algn="l"/>
            <a:r>
              <a:rPr sz="1000" b="0" i="1">
                <a:solidFill>
                  <a:srgbClr val="404040"/>
                </a:solidFill>
              </a:rPr>
              <a:t>Portal-opening states (SEPD/AEPD) in green.</a:t>
            </a:r>
          </a:p>
          <a:p>
            <a:pPr algn="l"/>
            <a:r>
              <a:rPr sz="1000" b="0" i="1">
                <a:solidFill>
                  <a:srgbClr val="404040"/>
                </a:solidFill>
              </a:rPr>
              <a:t>Ablated classes (NBD-less, V-shaped) in red/grey.</a:t>
            </a:r>
          </a:p>
          <a:p>
            <a:pPr algn="l"/>
            <a:r>
              <a:rPr sz="1000" b="0" i="1">
                <a:solidFill>
                  <a:srgbClr val="404040"/>
                </a:solidFill>
              </a:rPr>
              <a:t>Min sep 0.83 SD → continuous landscape overall.</a:t>
            </a:r>
          </a:p>
        </p:txBody>
      </p:sp>
      <p:sp>
        <p:nvSpPr>
          <p:cNvPr id="12" name="Rectangle 11"/>
          <p:cNvSpPr/>
          <p:nvPr/>
        </p:nvSpPr>
        <p:spPr>
          <a:xfrm>
            <a:off x="8595360" y="6071616"/>
            <a:ext cx="347472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68512" y="6117336"/>
            <a:ext cx="3328415" cy="658368"/>
          </a:xfrm>
          <a:prstGeom prst="rect">
            <a:avLst/>
          </a:prstGeom>
          <a:noFill/>
        </p:spPr>
        <p:txBody>
          <a:bodyPr wrap="square">
            <a:spAutoFit/>
          </a:bodyPr>
          <a:lstStyle/>
          <a:p>
            <a:pPr algn="l"/>
            <a:r>
              <a:rPr sz="1000" b="0" i="1">
                <a:solidFill>
                  <a:srgbClr val="404040"/>
                </a:solidFill>
              </a:rPr>
              <a:t>RIGHT: K=6 GMM — ongoing.</a:t>
            </a:r>
          </a:p>
          <a:p>
            <a:pPr algn="l"/>
            <a:r>
              <a:rPr sz="1000" b="0" i="1">
                <a:solidFill>
                  <a:srgbClr val="404040"/>
                </a:solidFill>
              </a:rPr>
              <a:t>6 components match the 6</a:t>
            </a:r>
          </a:p>
          <a:p>
            <a:pPr algn="l"/>
            <a:r>
              <a:rPr sz="1000" b="0" i="1">
                <a:solidFill>
                  <a:srgbClr val="404040"/>
                </a:solidFill>
              </a:rPr>
              <a:t>visible density lobes more</a:t>
            </a:r>
          </a:p>
          <a:p>
            <a:pPr algn="l"/>
            <a:r>
              <a:rPr sz="1000" b="0" i="1">
                <a:solidFill>
                  <a:srgbClr val="404040"/>
                </a:solidFill>
              </a:rPr>
              <a:t>honestly (min sep 1.30 SD).</a:t>
            </a:r>
          </a:p>
          <a:p>
            <a:pPr algn="l"/>
            <a:r>
              <a:rPr sz="1000" b="0" i="1">
                <a:solidFill>
                  <a:srgbClr val="404040"/>
                </a:solidFill>
              </a:rPr>
              <a:t>Expected to improve further</a:t>
            </a:r>
          </a:p>
          <a:p>
            <a:pPr algn="l"/>
            <a:r>
              <a:rPr sz="1000" b="0" i="1">
                <a:solidFill>
                  <a:srgbClr val="404040"/>
                </a:solidFill>
              </a:rPr>
              <a:t>with additional training or</a:t>
            </a:r>
          </a:p>
          <a:p>
            <a:pPr algn="l"/>
            <a:r>
              <a:rPr sz="1000" b="0" i="1">
                <a:solidFill>
                  <a:srgbClr val="404040"/>
                </a:solidFill>
              </a:rPr>
              <a:t>excluding ablated classes.</a:t>
            </a:r>
          </a:p>
        </p:txBody>
      </p:sp>
      <p:sp>
        <p:nvSpPr>
          <p:cNvPr id="14" name="Rectangle 13"/>
          <p:cNvSpPr/>
          <p:nvPr/>
        </p:nvSpPr>
        <p:spPr>
          <a:xfrm>
            <a:off x="182880" y="6766560"/>
            <a:ext cx="11795760" cy="73152"/>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784848"/>
            <a:ext cx="11521440" cy="73152"/>
          </a:xfrm>
          <a:prstGeom prst="rect">
            <a:avLst/>
          </a:prstGeom>
          <a:noFill/>
        </p:spPr>
        <p:txBody>
          <a:bodyPr wrap="square">
            <a:spAutoFit/>
          </a:bodyPr>
          <a:lstStyle/>
          <a:p>
            <a:pPr algn="ctr"/>
            <a:r>
              <a:rPr sz="1000" b="1" i="0">
                <a:solidFill>
                  <a:srgbClr val="FFFFFF"/>
                </a:solidFill>
              </a:rPr>
              <a:t>Free energy F(PC1) = 1 continuous well — no energetic barriers between classes. Classes are POSITIONS along a trajectory, not isolated states.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Synthesis: What We've Learned About CFTR + Trikafta</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Two independent methods converge on the same conformational landscape</a:t>
            </a:r>
          </a:p>
        </p:txBody>
      </p:sp>
      <p:sp>
        <p:nvSpPr>
          <p:cNvPr id="5" name="TextBox 4"/>
          <p:cNvSpPr txBox="1"/>
          <p:nvPr/>
        </p:nvSpPr>
        <p:spPr>
          <a:xfrm>
            <a:off x="365760" y="1097280"/>
            <a:ext cx="11430000" cy="292608"/>
          </a:xfrm>
          <a:prstGeom prst="rect">
            <a:avLst/>
          </a:prstGeom>
          <a:noFill/>
        </p:spPr>
        <p:txBody>
          <a:bodyPr wrap="square">
            <a:spAutoFit/>
          </a:bodyPr>
          <a:lstStyle/>
          <a:p>
            <a:pPr algn="l"/>
            <a:r>
              <a:rPr sz="1700" b="1" i="0">
                <a:solidFill>
                  <a:srgbClr val="37863A"/>
                </a:solidFill>
              </a:rPr>
              <a:t>✓  Confirmed results</a:t>
            </a:r>
          </a:p>
        </p:txBody>
      </p:sp>
      <p:sp>
        <p:nvSpPr>
          <p:cNvPr id="6" name="TextBox 5"/>
          <p:cNvSpPr txBox="1"/>
          <p:nvPr/>
        </p:nvSpPr>
        <p:spPr>
          <a:xfrm>
            <a:off x="365760" y="1435608"/>
            <a:ext cx="11430000" cy="1783080"/>
          </a:xfrm>
          <a:prstGeom prst="rect">
            <a:avLst/>
          </a:prstGeom>
          <a:noFill/>
        </p:spPr>
        <p:txBody>
          <a:bodyPr wrap="square">
            <a:spAutoFit/>
          </a:bodyPr>
          <a:lstStyle/>
          <a:p>
            <a:r>
              <a:rPr sz="1500">
                <a:solidFill>
                  <a:srgbClr val="404040"/>
                </a:solidFill>
              </a:rPr>
              <a:t>▸ CFTR + Trikafta exists in 3 core conformational states (P6 / P7 / P8)</a:t>
            </a:r>
          </a:p>
          <a:p>
            <a:r>
              <a:rPr sz="1400">
                <a:solidFill>
                  <a:srgbClr val="404040"/>
                </a:solidFill>
              </a:rPr>
              <a:t>      • CryoSPARC (reference-based, debiased): finds these; honest posteriors confirm genuine overlap</a:t>
            </a:r>
          </a:p>
          <a:p>
            <a:r>
              <a:rPr sz="1400">
                <a:solidFill>
                  <a:srgbClr val="404040"/>
                </a:solidFill>
              </a:rPr>
              <a:t>      • cryoDRGN (reference-free): independently recovers the SAME 3 — min GMM separation 2.60 SD</a:t>
            </a:r>
          </a:p>
          <a:p>
            <a:r>
              <a:rPr sz="1400">
                <a:solidFill>
                  <a:srgbClr val="404040"/>
                </a:solidFill>
              </a:rPr>
              <a:t>      • Populations reproducible: P6≈36%, P7≈29%, P8≈34% — stable across models and methods</a:t>
            </a:r>
          </a:p>
        </p:txBody>
      </p:sp>
      <p:sp>
        <p:nvSpPr>
          <p:cNvPr id="7" name="TextBox 6"/>
          <p:cNvSpPr txBox="1"/>
          <p:nvPr/>
        </p:nvSpPr>
        <p:spPr>
          <a:xfrm>
            <a:off x="365760" y="3291840"/>
            <a:ext cx="11430000" cy="292608"/>
          </a:xfrm>
          <a:prstGeom prst="rect">
            <a:avLst/>
          </a:prstGeom>
          <a:noFill/>
        </p:spPr>
        <p:txBody>
          <a:bodyPr wrap="square">
            <a:spAutoFit/>
          </a:bodyPr>
          <a:lstStyle/>
          <a:p>
            <a:pPr algn="l"/>
            <a:r>
              <a:rPr sz="1700" b="1" i="0">
                <a:solidFill>
                  <a:srgbClr val="C55A11"/>
                </a:solidFill>
              </a:rPr>
              <a:t>⚠  Honest caveats</a:t>
            </a:r>
          </a:p>
        </p:txBody>
      </p:sp>
      <p:sp>
        <p:nvSpPr>
          <p:cNvPr id="8" name="TextBox 7"/>
          <p:cNvSpPr txBox="1"/>
          <p:nvPr/>
        </p:nvSpPr>
        <p:spPr>
          <a:xfrm>
            <a:off x="365760" y="3630168"/>
            <a:ext cx="11430000" cy="1554480"/>
          </a:xfrm>
          <a:prstGeom prst="rect">
            <a:avLst/>
          </a:prstGeom>
          <a:noFill/>
        </p:spPr>
        <p:txBody>
          <a:bodyPr wrap="square">
            <a:spAutoFit/>
          </a:bodyPr>
          <a:lstStyle/>
          <a:p>
            <a:r>
              <a:rPr sz="1500">
                <a:solidFill>
                  <a:srgbClr val="404040"/>
                </a:solidFill>
              </a:rPr>
              <a:t>▸ States are POSITIONS on a continuous landscape, not fully isolated snapshots</a:t>
            </a:r>
          </a:p>
          <a:p>
            <a:r>
              <a:rPr sz="1500">
                <a:solidFill>
                  <a:srgbClr val="404040"/>
                </a:solidFill>
              </a:rPr>
              <a:t>▸ Most particles genuinely ambiguous at particle level — classes share conformational space</a:t>
            </a:r>
          </a:p>
          <a:p>
            <a:r>
              <a:rPr sz="1500">
                <a:solidFill>
                  <a:srgbClr val="404040"/>
                </a:solidFill>
              </a:rPr>
              <a:t>▸ P9 / P10 (5-class): structural substates of P8 / P6 — subtle peripheral loop differences</a:t>
            </a:r>
          </a:p>
        </p:txBody>
      </p:sp>
      <p:sp>
        <p:nvSpPr>
          <p:cNvPr id="9" name="TextBox 8"/>
          <p:cNvSpPr txBox="1"/>
          <p:nvPr/>
        </p:nvSpPr>
        <p:spPr>
          <a:xfrm>
            <a:off x="365760" y="5257800"/>
            <a:ext cx="11430000" cy="292608"/>
          </a:xfrm>
          <a:prstGeom prst="rect">
            <a:avLst/>
          </a:prstGeom>
          <a:noFill/>
        </p:spPr>
        <p:txBody>
          <a:bodyPr wrap="square">
            <a:spAutoFit/>
          </a:bodyPr>
          <a:lstStyle/>
          <a:p>
            <a:pPr algn="l"/>
            <a:r>
              <a:rPr sz="1700" b="1" i="0">
                <a:solidFill>
                  <a:srgbClr val="1A3A6C"/>
                </a:solidFill>
              </a:rPr>
              <a:t>→  What this means for CFTR biology</a:t>
            </a:r>
          </a:p>
        </p:txBody>
      </p:sp>
      <p:sp>
        <p:nvSpPr>
          <p:cNvPr id="10" name="TextBox 9"/>
          <p:cNvSpPr txBox="1"/>
          <p:nvPr/>
        </p:nvSpPr>
        <p:spPr>
          <a:xfrm>
            <a:off x="365760" y="5596128"/>
            <a:ext cx="11430000" cy="1005840"/>
          </a:xfrm>
          <a:prstGeom prst="rect">
            <a:avLst/>
          </a:prstGeom>
          <a:noFill/>
        </p:spPr>
        <p:txBody>
          <a:bodyPr wrap="square">
            <a:spAutoFit/>
          </a:bodyPr>
          <a:lstStyle/>
          <a:p>
            <a:r>
              <a:rPr sz="1500">
                <a:solidFill>
                  <a:srgbClr val="404040"/>
                </a:solidFill>
              </a:rPr>
              <a:t>▸ Drug-bound CFTR is dynamic — it explores multiple conformations in thermal equilibrium</a:t>
            </a:r>
          </a:p>
          <a:p>
            <a:r>
              <a:rPr sz="1500">
                <a:solidFill>
                  <a:srgbClr val="404040"/>
                </a:solidFill>
              </a:rPr>
              <a:t>▸ Three preferred 'resting positions' along a continuous conformational track</a:t>
            </a:r>
          </a:p>
          <a:p>
            <a:r>
              <a:rPr sz="1500">
                <a:solidFill>
                  <a:srgbClr val="404040"/>
                </a:solidFill>
              </a:rPr>
              <a:t>▸ Structural differences between states are real and localized (P8 has extra ordered domain density)</a:t>
            </a:r>
          </a:p>
          <a:p>
            <a:r>
              <a:rPr sz="1500">
                <a:solidFill>
                  <a:srgbClr val="404040"/>
                </a:solidFill>
              </a:rPr>
              <a:t>▸ Two-method validation provides armour: result is harder to dismiss as algorithmic artifact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3A6C"/>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1430000" cy="640080"/>
          </a:xfrm>
          <a:prstGeom prst="rect">
            <a:avLst/>
          </a:prstGeom>
          <a:noFill/>
        </p:spPr>
        <p:txBody>
          <a:bodyPr wrap="square">
            <a:spAutoFit/>
          </a:bodyPr>
          <a:lstStyle/>
          <a:p>
            <a:pPr algn="l"/>
            <a:r>
              <a:rPr sz="2500" b="1" i="0">
                <a:solidFill>
                  <a:srgbClr val="FFFFFF"/>
                </a:solidFill>
              </a:rPr>
              <a:t>Conclusions &amp; Future Directions</a:t>
            </a:r>
          </a:p>
        </p:txBody>
      </p:sp>
      <p:sp>
        <p:nvSpPr>
          <p:cNvPr id="4" name="Rectangle 3"/>
          <p:cNvSpPr/>
          <p:nvPr/>
        </p:nvSpPr>
        <p:spPr>
          <a:xfrm>
            <a:off x="365760" y="841248"/>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78408"/>
            <a:ext cx="5669280" cy="274320"/>
          </a:xfrm>
          <a:prstGeom prst="rect">
            <a:avLst/>
          </a:prstGeom>
          <a:noFill/>
        </p:spPr>
        <p:txBody>
          <a:bodyPr wrap="square">
            <a:spAutoFit/>
          </a:bodyPr>
          <a:lstStyle/>
          <a:p>
            <a:pPr algn="l"/>
            <a:r>
              <a:rPr sz="1500" b="1" i="0">
                <a:solidFill>
                  <a:srgbClr val="AACCFF"/>
                </a:solidFill>
              </a:rPr>
              <a:t>What was accomplished:</a:t>
            </a:r>
          </a:p>
        </p:txBody>
      </p:sp>
      <p:sp>
        <p:nvSpPr>
          <p:cNvPr id="6" name="TextBox 5"/>
          <p:cNvSpPr txBox="1"/>
          <p:nvPr/>
        </p:nvSpPr>
        <p:spPr>
          <a:xfrm>
            <a:off x="457200" y="1298448"/>
            <a:ext cx="5486400" cy="310896"/>
          </a:xfrm>
          <a:prstGeom prst="rect">
            <a:avLst/>
          </a:prstGeom>
          <a:noFill/>
        </p:spPr>
        <p:txBody>
          <a:bodyPr wrap="square">
            <a:spAutoFit/>
          </a:bodyPr>
          <a:lstStyle/>
          <a:p>
            <a:pPr algn="l"/>
            <a:r>
              <a:rPr sz="1200" b="0" i="0">
                <a:solidFill>
                  <a:srgbClr val="FFFFFF"/>
                </a:solidFill>
              </a:rPr>
              <a:t>✓ GMM pipeline: honest uncertainty quantification from debiased CryoSPARC posteriors</a:t>
            </a:r>
          </a:p>
        </p:txBody>
      </p:sp>
      <p:sp>
        <p:nvSpPr>
          <p:cNvPr id="7" name="TextBox 6"/>
          <p:cNvSpPr txBox="1"/>
          <p:nvPr/>
        </p:nvSpPr>
        <p:spPr>
          <a:xfrm>
            <a:off x="457200" y="1645919"/>
            <a:ext cx="5486400" cy="310896"/>
          </a:xfrm>
          <a:prstGeom prst="rect">
            <a:avLst/>
          </a:prstGeom>
          <a:noFill/>
        </p:spPr>
        <p:txBody>
          <a:bodyPr wrap="square">
            <a:spAutoFit/>
          </a:bodyPr>
          <a:lstStyle/>
          <a:p>
            <a:pPr algn="l"/>
            <a:r>
              <a:rPr sz="1200" b="0" i="0">
                <a:solidFill>
                  <a:srgbClr val="FFFFFF"/>
                </a:solidFill>
              </a:rPr>
              <a:t>✓ cryoDRGN: D=256 models trained + analyzed on 4 CFTR datasets — all converged</a:t>
            </a:r>
          </a:p>
        </p:txBody>
      </p:sp>
      <p:sp>
        <p:nvSpPr>
          <p:cNvPr id="8" name="TextBox 7"/>
          <p:cNvSpPr txBox="1"/>
          <p:nvPr/>
        </p:nvSpPr>
        <p:spPr>
          <a:xfrm>
            <a:off x="457200" y="1993391"/>
            <a:ext cx="5486400" cy="310896"/>
          </a:xfrm>
          <a:prstGeom prst="rect">
            <a:avLst/>
          </a:prstGeom>
          <a:noFill/>
        </p:spPr>
        <p:txBody>
          <a:bodyPr wrap="square">
            <a:spAutoFit/>
          </a:bodyPr>
          <a:lstStyle/>
          <a:p>
            <a:pPr algn="l"/>
            <a:r>
              <a:rPr sz="1200" b="0" i="0">
                <a:solidFill>
                  <a:srgbClr val="FFFFFF"/>
                </a:solidFill>
              </a:rPr>
              <a:t>✓ Cross-method validation: both methods independently recover the same 3 states</a:t>
            </a:r>
          </a:p>
        </p:txBody>
      </p:sp>
      <p:sp>
        <p:nvSpPr>
          <p:cNvPr id="9" name="TextBox 8"/>
          <p:cNvSpPr txBox="1"/>
          <p:nvPr/>
        </p:nvSpPr>
        <p:spPr>
          <a:xfrm>
            <a:off x="457200" y="2340864"/>
            <a:ext cx="5486400" cy="310896"/>
          </a:xfrm>
          <a:prstGeom prst="rect">
            <a:avLst/>
          </a:prstGeom>
          <a:noFill/>
        </p:spPr>
        <p:txBody>
          <a:bodyPr wrap="square">
            <a:spAutoFit/>
          </a:bodyPr>
          <a:lstStyle/>
          <a:p>
            <a:pPr algn="l"/>
            <a:r>
              <a:rPr sz="1200" b="0" i="0">
                <a:solidFill>
                  <a:srgbClr val="FFFFFF"/>
                </a:solidFill>
              </a:rPr>
              <a:t>✓ Basin occupancy + free-energy landscape analysis for J1442 and J264</a:t>
            </a:r>
          </a:p>
        </p:txBody>
      </p:sp>
      <p:sp>
        <p:nvSpPr>
          <p:cNvPr id="10" name="TextBox 9"/>
          <p:cNvSpPr txBox="1"/>
          <p:nvPr/>
        </p:nvSpPr>
        <p:spPr>
          <a:xfrm>
            <a:off x="457200" y="2688336"/>
            <a:ext cx="5486400" cy="310896"/>
          </a:xfrm>
          <a:prstGeom prst="rect">
            <a:avLst/>
          </a:prstGeom>
          <a:noFill/>
        </p:spPr>
        <p:txBody>
          <a:bodyPr wrap="square">
            <a:spAutoFit/>
          </a:bodyPr>
          <a:lstStyle/>
          <a:p>
            <a:pPr algn="l"/>
            <a:r>
              <a:rPr sz="1200" b="0" i="0">
                <a:solidFill>
                  <a:srgbClr val="FFFFFF"/>
                </a:solidFill>
              </a:rPr>
              <a:t>✓ Cluster export: .cs files per cryoDRGN GMM component → ready for CryoSPARC NU-refine</a:t>
            </a:r>
          </a:p>
        </p:txBody>
      </p:sp>
      <p:sp>
        <p:nvSpPr>
          <p:cNvPr id="11" name="TextBox 10"/>
          <p:cNvSpPr txBox="1"/>
          <p:nvPr/>
        </p:nvSpPr>
        <p:spPr>
          <a:xfrm>
            <a:off x="6446520" y="978408"/>
            <a:ext cx="5577840" cy="274320"/>
          </a:xfrm>
          <a:prstGeom prst="rect">
            <a:avLst/>
          </a:prstGeom>
          <a:noFill/>
        </p:spPr>
        <p:txBody>
          <a:bodyPr wrap="square">
            <a:spAutoFit/>
          </a:bodyPr>
          <a:lstStyle/>
          <a:p>
            <a:pPr algn="l"/>
            <a:r>
              <a:rPr sz="1500" b="1" i="0">
                <a:solidFill>
                  <a:srgbClr val="AACCFF"/>
                </a:solidFill>
              </a:rPr>
              <a:t>Next steps:</a:t>
            </a:r>
          </a:p>
        </p:txBody>
      </p:sp>
      <p:sp>
        <p:nvSpPr>
          <p:cNvPr id="12" name="TextBox 11"/>
          <p:cNvSpPr txBox="1"/>
          <p:nvPr/>
        </p:nvSpPr>
        <p:spPr>
          <a:xfrm>
            <a:off x="6537960" y="1298448"/>
            <a:ext cx="5486400" cy="310896"/>
          </a:xfrm>
          <a:prstGeom prst="rect">
            <a:avLst/>
          </a:prstGeom>
          <a:noFill/>
        </p:spPr>
        <p:txBody>
          <a:bodyPr wrap="square">
            <a:spAutoFit/>
          </a:bodyPr>
          <a:lstStyle/>
          <a:p>
            <a:pPr algn="l"/>
            <a:r>
              <a:rPr sz="1200" b="0" i="0">
                <a:solidFill>
                  <a:srgbClr val="CCDDFF"/>
                </a:solidFill>
              </a:rPr>
              <a:t>▸ GPU analyze on Hudson → UMAP + volume traversals along the latent PC1/PC2 axes</a:t>
            </a:r>
          </a:p>
        </p:txBody>
      </p:sp>
      <p:sp>
        <p:nvSpPr>
          <p:cNvPr id="13" name="TextBox 12"/>
          <p:cNvSpPr txBox="1"/>
          <p:nvPr/>
        </p:nvSpPr>
        <p:spPr>
          <a:xfrm>
            <a:off x="6537960" y="1645919"/>
            <a:ext cx="5486400" cy="310896"/>
          </a:xfrm>
          <a:prstGeom prst="rect">
            <a:avLst/>
          </a:prstGeom>
          <a:noFill/>
        </p:spPr>
        <p:txBody>
          <a:bodyPr wrap="square">
            <a:spAutoFit/>
          </a:bodyPr>
          <a:lstStyle/>
          <a:p>
            <a:pPr algn="l"/>
            <a:r>
              <a:rPr sz="1200" b="0" i="0">
                <a:solidFill>
                  <a:srgbClr val="CCDDFF"/>
                </a:solidFill>
              </a:rPr>
              <a:t>▸ Focused classification at NBD1/ICL4 → attempt to separate P9/P10 substates</a:t>
            </a:r>
          </a:p>
        </p:txBody>
      </p:sp>
      <p:sp>
        <p:nvSpPr>
          <p:cNvPr id="14" name="TextBox 13"/>
          <p:cNvSpPr txBox="1"/>
          <p:nvPr/>
        </p:nvSpPr>
        <p:spPr>
          <a:xfrm>
            <a:off x="6537960" y="1993391"/>
            <a:ext cx="5486400" cy="310896"/>
          </a:xfrm>
          <a:prstGeom prst="rect">
            <a:avLst/>
          </a:prstGeom>
          <a:noFill/>
        </p:spPr>
        <p:txBody>
          <a:bodyPr wrap="square">
            <a:spAutoFit/>
          </a:bodyPr>
          <a:lstStyle/>
          <a:p>
            <a:pPr algn="l"/>
            <a:r>
              <a:rPr sz="1200" b="0" i="0">
                <a:solidFill>
                  <a:srgbClr val="CCDDFF"/>
                </a:solidFill>
              </a:rPr>
              <a:t>▸ J264: retrain excluding ablated classes → test if 3 SC/AC/AO states emerge cleanly</a:t>
            </a:r>
          </a:p>
        </p:txBody>
      </p:sp>
      <p:sp>
        <p:nvSpPr>
          <p:cNvPr id="15" name="TextBox 14"/>
          <p:cNvSpPr txBox="1"/>
          <p:nvPr/>
        </p:nvSpPr>
        <p:spPr>
          <a:xfrm>
            <a:off x="6537960" y="2340864"/>
            <a:ext cx="5486400" cy="310896"/>
          </a:xfrm>
          <a:prstGeom prst="rect">
            <a:avLst/>
          </a:prstGeom>
          <a:noFill/>
        </p:spPr>
        <p:txBody>
          <a:bodyPr wrap="square">
            <a:spAutoFit/>
          </a:bodyPr>
          <a:lstStyle/>
          <a:p>
            <a:pPr algn="l"/>
            <a:r>
              <a:rPr sz="1200" b="0" i="0">
                <a:solidFill>
                  <a:srgbClr val="CCDDFF"/>
                </a:solidFill>
              </a:rPr>
              <a:t>▸ Import cryoDRGN cluster .cs sets → NU-refinement in CryoSPARC → new maps</a:t>
            </a:r>
          </a:p>
        </p:txBody>
      </p:sp>
      <p:sp>
        <p:nvSpPr>
          <p:cNvPr id="16" name="TextBox 15"/>
          <p:cNvSpPr txBox="1"/>
          <p:nvPr/>
        </p:nvSpPr>
        <p:spPr>
          <a:xfrm>
            <a:off x="6537960" y="2688336"/>
            <a:ext cx="5486400" cy="310896"/>
          </a:xfrm>
          <a:prstGeom prst="rect">
            <a:avLst/>
          </a:prstGeom>
          <a:noFill/>
        </p:spPr>
        <p:txBody>
          <a:bodyPr wrap="square">
            <a:spAutoFit/>
          </a:bodyPr>
          <a:lstStyle/>
          <a:p>
            <a:pPr algn="l"/>
            <a:r>
              <a:rPr sz="1200" b="0" i="0">
                <a:solidFill>
                  <a:srgbClr val="CCDDFF"/>
                </a:solidFill>
              </a:rPr>
              <a:t>▸ 3DFlex / 3DVA: model continuous conformational motion along the landscape</a:t>
            </a:r>
          </a:p>
        </p:txBody>
      </p:sp>
      <p:sp>
        <p:nvSpPr>
          <p:cNvPr id="17" name="Rectangle 16"/>
          <p:cNvSpPr/>
          <p:nvPr/>
        </p:nvSpPr>
        <p:spPr>
          <a:xfrm>
            <a:off x="365760" y="3246120"/>
            <a:ext cx="11430000" cy="36576"/>
          </a:xfrm>
          <a:prstGeom prst="rect">
            <a:avLst/>
          </a:prstGeom>
          <a:solidFill>
            <a:srgbClr val="3A5A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3364992"/>
            <a:ext cx="11430000" cy="256032"/>
          </a:xfrm>
          <a:prstGeom prst="rect">
            <a:avLst/>
          </a:prstGeom>
          <a:noFill/>
        </p:spPr>
        <p:txBody>
          <a:bodyPr wrap="square">
            <a:spAutoFit/>
          </a:bodyPr>
          <a:lstStyle/>
          <a:p>
            <a:pPr algn="l"/>
            <a:r>
              <a:rPr sz="1400" b="1" i="0">
                <a:solidFill>
                  <a:srgbClr val="B89200"/>
                </a:solidFill>
              </a:rPr>
              <a:t>Key open question:</a:t>
            </a:r>
          </a:p>
        </p:txBody>
      </p:sp>
      <p:sp>
        <p:nvSpPr>
          <p:cNvPr id="19" name="TextBox 18"/>
          <p:cNvSpPr txBox="1"/>
          <p:nvPr/>
        </p:nvSpPr>
        <p:spPr>
          <a:xfrm>
            <a:off x="365760" y="3639312"/>
            <a:ext cx="11430000" cy="502920"/>
          </a:xfrm>
          <a:prstGeom prst="rect">
            <a:avLst/>
          </a:prstGeom>
          <a:noFill/>
        </p:spPr>
        <p:txBody>
          <a:bodyPr wrap="square">
            <a:spAutoFit/>
          </a:bodyPr>
          <a:lstStyle/>
          <a:p>
            <a:pPr algn="l"/>
            <a:r>
              <a:rPr sz="1300" b="0" i="1">
                <a:solidFill>
                  <a:srgbClr val="FFFFFF"/>
                </a:solidFill>
              </a:rPr>
              <a:t>Do the conformational state POPULATIONS change with different drug doses, patient mutations, or ATP? If so — connecting structure to function quantitatively.</a:t>
            </a:r>
          </a:p>
        </p:txBody>
      </p:sp>
      <p:sp>
        <p:nvSpPr>
          <p:cNvPr id="20" name="Rectangle 19"/>
          <p:cNvSpPr/>
          <p:nvPr/>
        </p:nvSpPr>
        <p:spPr>
          <a:xfrm>
            <a:off x="365760" y="4297680"/>
            <a:ext cx="11430000" cy="36576"/>
          </a:xfrm>
          <a:prstGeom prst="rect">
            <a:avLst/>
          </a:prstGeom>
          <a:solidFill>
            <a:srgbClr val="3A5A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4416552"/>
            <a:ext cx="11430000" cy="256032"/>
          </a:xfrm>
          <a:prstGeom prst="rect">
            <a:avLst/>
          </a:prstGeom>
          <a:noFill/>
        </p:spPr>
        <p:txBody>
          <a:bodyPr wrap="square">
            <a:spAutoFit/>
          </a:bodyPr>
          <a:lstStyle/>
          <a:p>
            <a:pPr algn="l"/>
            <a:r>
              <a:rPr sz="1400" b="1" i="0">
                <a:solidFill>
                  <a:srgbClr val="B89200"/>
                </a:solidFill>
              </a:rPr>
              <a:t>Take-home message:</a:t>
            </a:r>
          </a:p>
        </p:txBody>
      </p:sp>
      <p:sp>
        <p:nvSpPr>
          <p:cNvPr id="22" name="TextBox 21"/>
          <p:cNvSpPr txBox="1"/>
          <p:nvPr/>
        </p:nvSpPr>
        <p:spPr>
          <a:xfrm>
            <a:off x="365760" y="4709160"/>
            <a:ext cx="11430000" cy="640080"/>
          </a:xfrm>
          <a:prstGeom prst="rect">
            <a:avLst/>
          </a:prstGeom>
          <a:noFill/>
        </p:spPr>
        <p:txBody>
          <a:bodyPr wrap="square">
            <a:spAutoFit/>
          </a:bodyPr>
          <a:lstStyle/>
          <a:p>
            <a:pPr algn="l"/>
            <a:r>
              <a:rPr sz="1300" b="0" i="0">
                <a:solidFill>
                  <a:srgbClr val="FFFFFF"/>
                </a:solidFill>
              </a:rPr>
              <a:t>CFTR + Trikafta adopts 3 distinct but interconverting conformations.</a:t>
            </a:r>
          </a:p>
          <a:p>
            <a:pPr algn="l"/>
            <a:r>
              <a:rPr sz="1300" b="0" i="0">
                <a:solidFill>
                  <a:srgbClr val="FFFFFF"/>
                </a:solidFill>
              </a:rPr>
              <a:t>cryoDRGN independently validates CryoSPARC's classes — without reference maps.</a:t>
            </a:r>
          </a:p>
          <a:p>
            <a:pPr algn="l"/>
            <a:r>
              <a:rPr sz="1300" b="0" i="0">
                <a:solidFill>
                  <a:srgbClr val="FFFFFF"/>
                </a:solidFill>
              </a:rPr>
              <a:t>Populations reproducible (~37%/29%/34%) and consistent across model sizes and methods.</a:t>
            </a:r>
          </a:p>
        </p:txBody>
      </p:sp>
      <p:sp>
        <p:nvSpPr>
          <p:cNvPr id="23" name="Rectangle 22"/>
          <p:cNvSpPr/>
          <p:nvPr/>
        </p:nvSpPr>
        <p:spPr>
          <a:xfrm>
            <a:off x="365760" y="5559552"/>
            <a:ext cx="11430000" cy="640080"/>
          </a:xfrm>
          <a:prstGeom prst="rect">
            <a:avLst/>
          </a:prstGeom>
          <a:solidFill>
            <a:srgbClr val="0E2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5605272"/>
            <a:ext cx="11155680" cy="548640"/>
          </a:xfrm>
          <a:prstGeom prst="rect">
            <a:avLst/>
          </a:prstGeom>
          <a:noFill/>
        </p:spPr>
        <p:txBody>
          <a:bodyPr wrap="square">
            <a:spAutoFit/>
          </a:bodyPr>
          <a:lstStyle/>
          <a:p>
            <a:pPr algn="ctr"/>
            <a:r>
              <a:rPr sz="1200" b="0" i="1">
                <a:solidFill>
                  <a:srgbClr val="99BBFF"/>
                </a:solidFill>
              </a:rPr>
              <a:t>Code: github.com/minouemmad/cryoem-classification  |  Methods: CryoSPARC · cryoDRGN · Custom GMM Pipeline  |  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